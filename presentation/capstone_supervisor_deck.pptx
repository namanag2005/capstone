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team and the one-line idea: an agent that answers questions about uploaded data, and shows its work so the answer can be trusted.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Motivate the project. Most people now ask chat assistants about spreadsheets. Three problems: numbers can be invented, there is no evidence, and private data leaves the organisation.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what one answer contains. The point is that every answer comes with its evidence: the code, the columns used, a confidence range when needed, and an explicit scope warning.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The router decides whether the question needs planning. The planner can produce several competing interpretations. The executor runs each plan in parallel. The verifier checks the answer and its scope. The consistency check compares it with earlier answers in the session. Point out the orange path: only the masked profile goes to the model.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makes it an agent rather than a one-shot code generator. Errors feed back into code generation. If a result reveals that the plan itself was wrong, for example a column means something else, the planner is called again with the work done so far.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PII means personally identifiable information. Detection uses patterns and column-name rules. Masking applies only to what the model sees. The sandbox limits come from the project's config.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removed the paid provider. Everything runs on Groq's free tier. A circuit breaker per stage falls back to a local model or a heuristic stub, and those answers are clearly labelled.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streamlit run ui/app.py before the meeting. Keep a screen recording as a backup in case the free tier rate-limits during the demo.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that the benchmark is small. The tests cover ingestion, static checks, the real sandbox, the cache and the vector store.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these is a deliberate scope decision for a single-machine project, and each is documented in the README and at the top of the relevant module.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asking for guidance on which next step matters most for the final submission.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E3D"/>
        </a:solidFill>
        <a:effectLst/>
      </p:bgPr>
    </p:bg>
    <p:spTree>
      <p:nvGrpSpPr>
        <p:cNvPr id="1" name=""/>
        <p:cNvGrpSpPr/>
        <p:nvPr/>
      </p:nvGrpSpPr>
      <p:grpSpPr/>
      <p:sp>
        <p:nvSpPr>
          <p:cNvPr id="2" name="TextBox 1"/>
          <p:cNvSpPr txBox="1"/>
          <p:nvPr/>
        </p:nvSpPr>
        <p:spPr>
          <a:xfrm>
            <a:off x="548640" y="1417320"/>
            <a:ext cx="6766560" cy="320040"/>
          </a:xfrm>
          <a:prstGeom prst="rect">
            <a:avLst/>
          </a:prstGeom>
          <a:noFill/>
        </p:spPr>
        <p:txBody>
          <a:bodyPr wrap="square" lIns="0" rIns="0" tIns="0" bIns="0" anchor="t">
            <a:spAutoFit/>
          </a:bodyPr>
          <a:lstStyle/>
          <a:p>
            <a:pPr algn="l"/>
            <a:r>
              <a:rPr sz="1400" b="1" i="0" spc="300">
                <a:solidFill>
                  <a:srgbClr val="E39B2D"/>
                </a:solidFill>
                <a:latin typeface="Calibri"/>
              </a:rPr>
              <a:t>CAPSTONE PROJECT</a:t>
            </a:r>
          </a:p>
        </p:txBody>
      </p:sp>
      <p:sp>
        <p:nvSpPr>
          <p:cNvPr id="3" name="TextBox 2"/>
          <p:cNvSpPr txBox="1"/>
          <p:nvPr/>
        </p:nvSpPr>
        <p:spPr>
          <a:xfrm>
            <a:off x="548640" y="1828800"/>
            <a:ext cx="7223760" cy="1737360"/>
          </a:xfrm>
          <a:prstGeom prst="rect">
            <a:avLst/>
          </a:prstGeom>
          <a:noFill/>
        </p:spPr>
        <p:txBody>
          <a:bodyPr wrap="square" lIns="0" rIns="0" tIns="0" bIns="0" anchor="t">
            <a:spAutoFit/>
          </a:bodyPr>
          <a:lstStyle/>
          <a:p>
            <a:pPr algn="l"/>
            <a:r>
              <a:rPr sz="4800" b="1" i="0">
                <a:solidFill>
                  <a:srgbClr val="FFFFFF"/>
                </a:solidFill>
                <a:latin typeface="Cambria"/>
              </a:rPr>
              <a:t>Autonomous</a:t>
            </a:r>
          </a:p>
          <a:p>
            <a:pPr algn="l"/>
            <a:r>
              <a:rPr sz="4800" b="1" i="0">
                <a:solidFill>
                  <a:srgbClr val="FFFFFF"/>
                </a:solidFill>
                <a:latin typeface="Cambria"/>
              </a:rPr>
              <a:t>Data-Analysis Agent</a:t>
            </a:r>
          </a:p>
        </p:txBody>
      </p:sp>
      <p:sp>
        <p:nvSpPr>
          <p:cNvPr id="4" name="TextBox 3"/>
          <p:cNvSpPr txBox="1"/>
          <p:nvPr/>
        </p:nvSpPr>
        <p:spPr>
          <a:xfrm>
            <a:off x="548640" y="3703320"/>
            <a:ext cx="6400800" cy="1097280"/>
          </a:xfrm>
          <a:prstGeom prst="rect">
            <a:avLst/>
          </a:prstGeom>
          <a:noFill/>
        </p:spPr>
        <p:txBody>
          <a:bodyPr wrap="square" lIns="0" rIns="0" tIns="0" bIns="0" anchor="t">
            <a:spAutoFit/>
          </a:bodyPr>
          <a:lstStyle/>
          <a:p>
            <a:pPr algn="l"/>
            <a:r>
              <a:rPr sz="2000" b="0" i="0">
                <a:solidFill>
                  <a:srgbClr val="BFD6DA"/>
                </a:solidFill>
                <a:latin typeface="Calibri"/>
              </a:rPr>
              <a:t>Ask a question about your data in plain English. Get a verified answer, the code behind it, and the rows it used.</a:t>
            </a:r>
          </a:p>
        </p:txBody>
      </p:sp>
      <p:sp>
        <p:nvSpPr>
          <p:cNvPr id="5" name="TextBox 4"/>
          <p:cNvSpPr txBox="1"/>
          <p:nvPr/>
        </p:nvSpPr>
        <p:spPr>
          <a:xfrm>
            <a:off x="548640" y="5440680"/>
            <a:ext cx="6766560" cy="320040"/>
          </a:xfrm>
          <a:prstGeom prst="rect">
            <a:avLst/>
          </a:prstGeom>
          <a:noFill/>
        </p:spPr>
        <p:txBody>
          <a:bodyPr wrap="square" lIns="0" rIns="0" tIns="0" bIns="0" anchor="t">
            <a:spAutoFit/>
          </a:bodyPr>
          <a:lstStyle/>
          <a:p>
            <a:pPr algn="l"/>
            <a:r>
              <a:rPr sz="1400" b="0" i="0">
                <a:solidFill>
                  <a:srgbClr val="BFD6DA"/>
                </a:solidFill>
                <a:latin typeface="Calibri"/>
              </a:rPr>
              <a:t>Team: [your names]   ·   Supervisor: [name]   ·   October 2026</a:t>
            </a:r>
          </a:p>
        </p:txBody>
      </p:sp>
      <p:sp>
        <p:nvSpPr>
          <p:cNvPr id="6" name="Rounded Rectangle 5"/>
          <p:cNvSpPr/>
          <p:nvPr/>
        </p:nvSpPr>
        <p:spPr>
          <a:xfrm>
            <a:off x="8001000" y="1234440"/>
            <a:ext cx="3611880" cy="841248"/>
          </a:xfrm>
          <a:prstGeom prst="roundRect">
            <a:avLst>
              <a:gd name="adj" fmla="val 12000"/>
            </a:avLst>
          </a:prstGeom>
          <a:solidFill>
            <a:srgbClr val="1F6F78"/>
          </a:solidFill>
          <a:ln>
            <a:noFill/>
          </a:ln>
        </p:spPr>
        <p:txBody>
          <a:bodyPr rtlCol="0" anchor="ctr"/>
          <a:lstStyle/>
          <a:p/>
        </p:txBody>
      </p:sp>
      <p:sp>
        <p:nvSpPr>
          <p:cNvPr id="7" name="TextBox 6"/>
          <p:cNvSpPr txBox="1"/>
          <p:nvPr/>
        </p:nvSpPr>
        <p:spPr>
          <a:xfrm>
            <a:off x="8275320" y="1362456"/>
            <a:ext cx="3063240" cy="329184"/>
          </a:xfrm>
          <a:prstGeom prst="rect">
            <a:avLst/>
          </a:prstGeom>
          <a:noFill/>
        </p:spPr>
        <p:txBody>
          <a:bodyPr wrap="square" lIns="0" rIns="0" tIns="0" bIns="0" anchor="t">
            <a:spAutoFit/>
          </a:bodyPr>
          <a:lstStyle/>
          <a:p>
            <a:pPr algn="l"/>
            <a:r>
              <a:rPr sz="1800" b="1" i="0">
                <a:solidFill>
                  <a:srgbClr val="FFFFFF"/>
                </a:solidFill>
                <a:latin typeface="Calibri"/>
              </a:rPr>
              <a:t>Plan</a:t>
            </a:r>
          </a:p>
        </p:txBody>
      </p:sp>
      <p:sp>
        <p:nvSpPr>
          <p:cNvPr id="8" name="TextBox 7"/>
          <p:cNvSpPr txBox="1"/>
          <p:nvPr/>
        </p:nvSpPr>
        <p:spPr>
          <a:xfrm>
            <a:off x="8275320" y="1691640"/>
            <a:ext cx="3063240" cy="274320"/>
          </a:xfrm>
          <a:prstGeom prst="rect">
            <a:avLst/>
          </a:prstGeom>
          <a:noFill/>
        </p:spPr>
        <p:txBody>
          <a:bodyPr wrap="square" lIns="0" rIns="0" tIns="0" bIns="0" anchor="t">
            <a:spAutoFit/>
          </a:bodyPr>
          <a:lstStyle/>
          <a:p>
            <a:pPr algn="l"/>
            <a:r>
              <a:rPr sz="1300" b="0" i="0">
                <a:solidFill>
                  <a:srgbClr val="BFD6DA"/>
                </a:solidFill>
                <a:latin typeface="Calibri"/>
              </a:rPr>
              <a:t>break the question into steps</a:t>
            </a:r>
          </a:p>
        </p:txBody>
      </p:sp>
      <p:cxnSp>
        <p:nvCxnSpPr>
          <p:cNvPr id="9" name="Connector 8"/>
          <p:cNvCxnSpPr/>
          <p:nvPr/>
        </p:nvCxnSpPr>
        <p:spPr>
          <a:xfrm>
            <a:off x="9806940" y="2112264"/>
            <a:ext cx="0" cy="310896"/>
          </a:xfrm>
          <a:prstGeom prst="line">
            <a:avLst/>
          </a:prstGeom>
          <a:ln w="22225">
            <a:solidFill>
              <a:srgbClr val="BFD6D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8001000" y="2459736"/>
            <a:ext cx="3611880" cy="841248"/>
          </a:xfrm>
          <a:prstGeom prst="roundRect">
            <a:avLst>
              <a:gd name="adj" fmla="val 12000"/>
            </a:avLst>
          </a:prstGeom>
          <a:solidFill>
            <a:srgbClr val="1F6F78"/>
          </a:solidFill>
          <a:ln>
            <a:noFill/>
          </a:ln>
        </p:spPr>
        <p:txBody>
          <a:bodyPr rtlCol="0" anchor="ctr"/>
          <a:lstStyle/>
          <a:p/>
        </p:txBody>
      </p:sp>
      <p:sp>
        <p:nvSpPr>
          <p:cNvPr id="11" name="TextBox 10"/>
          <p:cNvSpPr txBox="1"/>
          <p:nvPr/>
        </p:nvSpPr>
        <p:spPr>
          <a:xfrm>
            <a:off x="8275320" y="2587752"/>
            <a:ext cx="3063240" cy="329184"/>
          </a:xfrm>
          <a:prstGeom prst="rect">
            <a:avLst/>
          </a:prstGeom>
          <a:noFill/>
        </p:spPr>
        <p:txBody>
          <a:bodyPr wrap="square" lIns="0" rIns="0" tIns="0" bIns="0" anchor="t">
            <a:spAutoFit/>
          </a:bodyPr>
          <a:lstStyle/>
          <a:p>
            <a:pPr algn="l"/>
            <a:r>
              <a:rPr sz="1800" b="1" i="0">
                <a:solidFill>
                  <a:srgbClr val="FFFFFF"/>
                </a:solidFill>
                <a:latin typeface="Calibri"/>
              </a:rPr>
              <a:t>Write code</a:t>
            </a:r>
          </a:p>
        </p:txBody>
      </p:sp>
      <p:sp>
        <p:nvSpPr>
          <p:cNvPr id="12" name="TextBox 11"/>
          <p:cNvSpPr txBox="1"/>
          <p:nvPr/>
        </p:nvSpPr>
        <p:spPr>
          <a:xfrm>
            <a:off x="8275320" y="2916936"/>
            <a:ext cx="3063240" cy="274320"/>
          </a:xfrm>
          <a:prstGeom prst="rect">
            <a:avLst/>
          </a:prstGeom>
          <a:noFill/>
        </p:spPr>
        <p:txBody>
          <a:bodyPr wrap="square" lIns="0" rIns="0" tIns="0" bIns="0" anchor="t">
            <a:spAutoFit/>
          </a:bodyPr>
          <a:lstStyle/>
          <a:p>
            <a:pPr algn="l"/>
            <a:r>
              <a:rPr sz="1300" b="0" i="0">
                <a:solidFill>
                  <a:srgbClr val="BFD6DA"/>
                </a:solidFill>
                <a:latin typeface="Calibri"/>
              </a:rPr>
              <a:t>pandas or SQL</a:t>
            </a:r>
          </a:p>
        </p:txBody>
      </p:sp>
      <p:cxnSp>
        <p:nvCxnSpPr>
          <p:cNvPr id="13" name="Connector 12"/>
          <p:cNvCxnSpPr/>
          <p:nvPr/>
        </p:nvCxnSpPr>
        <p:spPr>
          <a:xfrm>
            <a:off x="9806940" y="3337560"/>
            <a:ext cx="0" cy="310896"/>
          </a:xfrm>
          <a:prstGeom prst="line">
            <a:avLst/>
          </a:prstGeom>
          <a:ln w="22225">
            <a:solidFill>
              <a:srgbClr val="BFD6D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001000" y="3685032"/>
            <a:ext cx="3611880" cy="841248"/>
          </a:xfrm>
          <a:prstGeom prst="roundRect">
            <a:avLst>
              <a:gd name="adj" fmla="val 12000"/>
            </a:avLst>
          </a:prstGeom>
          <a:solidFill>
            <a:srgbClr val="1F6F78"/>
          </a:solidFill>
          <a:ln>
            <a:noFill/>
          </a:ln>
        </p:spPr>
        <p:txBody>
          <a:bodyPr rtlCol="0" anchor="ctr"/>
          <a:lstStyle/>
          <a:p/>
        </p:txBody>
      </p:sp>
      <p:sp>
        <p:nvSpPr>
          <p:cNvPr id="15" name="TextBox 14"/>
          <p:cNvSpPr txBox="1"/>
          <p:nvPr/>
        </p:nvSpPr>
        <p:spPr>
          <a:xfrm>
            <a:off x="8275320" y="3813048"/>
            <a:ext cx="3063240" cy="329184"/>
          </a:xfrm>
          <a:prstGeom prst="rect">
            <a:avLst/>
          </a:prstGeom>
          <a:noFill/>
        </p:spPr>
        <p:txBody>
          <a:bodyPr wrap="square" lIns="0" rIns="0" tIns="0" bIns="0" anchor="t">
            <a:spAutoFit/>
          </a:bodyPr>
          <a:lstStyle/>
          <a:p>
            <a:pPr algn="l"/>
            <a:r>
              <a:rPr sz="1800" b="1" i="0">
                <a:solidFill>
                  <a:srgbClr val="FFFFFF"/>
                </a:solidFill>
                <a:latin typeface="Calibri"/>
              </a:rPr>
              <a:t>Run safely</a:t>
            </a:r>
          </a:p>
        </p:txBody>
      </p:sp>
      <p:sp>
        <p:nvSpPr>
          <p:cNvPr id="16" name="TextBox 15"/>
          <p:cNvSpPr txBox="1"/>
          <p:nvPr/>
        </p:nvSpPr>
        <p:spPr>
          <a:xfrm>
            <a:off x="8275320" y="4142232"/>
            <a:ext cx="3063240" cy="274320"/>
          </a:xfrm>
          <a:prstGeom prst="rect">
            <a:avLst/>
          </a:prstGeom>
          <a:noFill/>
        </p:spPr>
        <p:txBody>
          <a:bodyPr wrap="square" lIns="0" rIns="0" tIns="0" bIns="0" anchor="t">
            <a:spAutoFit/>
          </a:bodyPr>
          <a:lstStyle/>
          <a:p>
            <a:pPr algn="l"/>
            <a:r>
              <a:rPr sz="1300" b="0" i="0">
                <a:solidFill>
                  <a:srgbClr val="BFD6DA"/>
                </a:solidFill>
                <a:latin typeface="Calibri"/>
              </a:rPr>
              <a:t>local sandbox</a:t>
            </a:r>
          </a:p>
        </p:txBody>
      </p:sp>
      <p:cxnSp>
        <p:nvCxnSpPr>
          <p:cNvPr id="17" name="Connector 16"/>
          <p:cNvCxnSpPr/>
          <p:nvPr/>
        </p:nvCxnSpPr>
        <p:spPr>
          <a:xfrm>
            <a:off x="9806940" y="4562856"/>
            <a:ext cx="0" cy="310896"/>
          </a:xfrm>
          <a:prstGeom prst="line">
            <a:avLst/>
          </a:prstGeom>
          <a:ln w="22225">
            <a:solidFill>
              <a:srgbClr val="BFD6D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001000" y="4910328"/>
            <a:ext cx="3611880" cy="841248"/>
          </a:xfrm>
          <a:prstGeom prst="roundRect">
            <a:avLst>
              <a:gd name="adj" fmla="val 12000"/>
            </a:avLst>
          </a:prstGeom>
          <a:solidFill>
            <a:srgbClr val="E39B2D"/>
          </a:solidFill>
          <a:ln>
            <a:noFill/>
          </a:ln>
        </p:spPr>
        <p:txBody>
          <a:bodyPr rtlCol="0" anchor="ctr"/>
          <a:lstStyle/>
          <a:p/>
        </p:txBody>
      </p:sp>
      <p:sp>
        <p:nvSpPr>
          <p:cNvPr id="19" name="TextBox 18"/>
          <p:cNvSpPr txBox="1"/>
          <p:nvPr/>
        </p:nvSpPr>
        <p:spPr>
          <a:xfrm>
            <a:off x="8275320" y="5038344"/>
            <a:ext cx="3063240" cy="329184"/>
          </a:xfrm>
          <a:prstGeom prst="rect">
            <a:avLst/>
          </a:prstGeom>
          <a:noFill/>
        </p:spPr>
        <p:txBody>
          <a:bodyPr wrap="square" lIns="0" rIns="0" tIns="0" bIns="0" anchor="t">
            <a:spAutoFit/>
          </a:bodyPr>
          <a:lstStyle/>
          <a:p>
            <a:pPr algn="l"/>
            <a:r>
              <a:rPr sz="1800" b="1" i="0">
                <a:solidFill>
                  <a:srgbClr val="0F2E3D"/>
                </a:solidFill>
                <a:latin typeface="Calibri"/>
              </a:rPr>
              <a:t>Verify</a:t>
            </a:r>
          </a:p>
        </p:txBody>
      </p:sp>
      <p:sp>
        <p:nvSpPr>
          <p:cNvPr id="20" name="TextBox 19"/>
          <p:cNvSpPr txBox="1"/>
          <p:nvPr/>
        </p:nvSpPr>
        <p:spPr>
          <a:xfrm>
            <a:off x="8275320" y="5367528"/>
            <a:ext cx="3063240" cy="274320"/>
          </a:xfrm>
          <a:prstGeom prst="rect">
            <a:avLst/>
          </a:prstGeom>
          <a:noFill/>
        </p:spPr>
        <p:txBody>
          <a:bodyPr wrap="square" lIns="0" rIns="0" tIns="0" bIns="0" anchor="t">
            <a:spAutoFit/>
          </a:bodyPr>
          <a:lstStyle/>
          <a:p>
            <a:pPr algn="l"/>
            <a:r>
              <a:rPr sz="1300" b="0" i="0">
                <a:solidFill>
                  <a:srgbClr val="0F2E3D"/>
                </a:solidFill>
                <a:latin typeface="Calibri"/>
              </a:rPr>
              <a:t>check before answering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94415" cy="777240"/>
          </a:xfrm>
          <a:prstGeom prst="rect">
            <a:avLst/>
          </a:prstGeom>
          <a:noFill/>
        </p:spPr>
        <p:txBody>
          <a:bodyPr wrap="square" lIns="0" rIns="0" tIns="0" bIns="0" anchor="ctr">
            <a:spAutoFit/>
          </a:bodyPr>
          <a:lstStyle/>
          <a:p>
            <a:pPr algn="l"/>
            <a:r>
              <a:rPr sz="3400" b="1" i="0">
                <a:solidFill>
                  <a:srgbClr val="0F2E3D"/>
                </a:solidFill>
                <a:latin typeface="Cambria"/>
              </a:rPr>
              <a:t>Chat-style AI can't be trusted with your data</a:t>
            </a:r>
          </a:p>
        </p:txBody>
      </p:sp>
      <p:sp>
        <p:nvSpPr>
          <p:cNvPr id="3" name="Card 1"/>
          <p:cNvSpPr/>
          <p:nvPr/>
        </p:nvSpPr>
        <p:spPr>
          <a:xfrm>
            <a:off x="518007" y="1645920"/>
            <a:ext cx="3474720" cy="3566160"/>
          </a:xfrm>
          <a:prstGeom prst="roundRect">
            <a:avLst>
              <a:gd name="adj" fmla="val 3157"/>
            </a:avLst>
          </a:prstGeom>
          <a:solidFill>
            <a:srgbClr val="E8F0F1"/>
          </a:solidFill>
          <a:ln>
            <a:noFill/>
          </a:ln>
        </p:spPr>
        <p:txBody>
          <a:bodyPr rtlCol="0" anchor="ctr"/>
          <a:lstStyle/>
          <a:p/>
        </p:txBody>
      </p:sp>
      <p:sp>
        <p:nvSpPr>
          <p:cNvPr id="4" name="TextBox 3"/>
          <p:cNvSpPr txBox="1"/>
          <p:nvPr/>
        </p:nvSpPr>
        <p:spPr>
          <a:xfrm>
            <a:off x="883767" y="2057400"/>
            <a:ext cx="2743200" cy="1005840"/>
          </a:xfrm>
          <a:prstGeom prst="rect">
            <a:avLst/>
          </a:prstGeom>
          <a:noFill/>
        </p:spPr>
        <p:txBody>
          <a:bodyPr wrap="square" lIns="0" rIns="0" tIns="0" bIns="0" anchor="t">
            <a:spAutoFit/>
          </a:bodyPr>
          <a:lstStyle/>
          <a:p>
            <a:pPr algn="l"/>
            <a:r>
              <a:rPr sz="5400" b="1" i="0">
                <a:solidFill>
                  <a:srgbClr val="E39B2D"/>
                </a:solidFill>
                <a:latin typeface="Cambria"/>
              </a:rPr>
              <a:t>42?</a:t>
            </a:r>
          </a:p>
        </p:txBody>
      </p:sp>
      <p:sp>
        <p:nvSpPr>
          <p:cNvPr id="5" name="TextBox 4"/>
          <p:cNvSpPr txBox="1"/>
          <p:nvPr/>
        </p:nvSpPr>
        <p:spPr>
          <a:xfrm>
            <a:off x="883767" y="3337560"/>
            <a:ext cx="2743200" cy="457200"/>
          </a:xfrm>
          <a:prstGeom prst="rect">
            <a:avLst/>
          </a:prstGeom>
          <a:noFill/>
        </p:spPr>
        <p:txBody>
          <a:bodyPr wrap="square" lIns="0" rIns="0" tIns="0" bIns="0" anchor="t">
            <a:spAutoFit/>
          </a:bodyPr>
          <a:lstStyle/>
          <a:p>
            <a:pPr algn="l"/>
            <a:r>
              <a:rPr sz="2200" b="1" i="0">
                <a:solidFill>
                  <a:srgbClr val="0F2E3D"/>
                </a:solidFill>
                <a:latin typeface="Calibri"/>
              </a:rPr>
              <a:t>Made-up numbers</a:t>
            </a:r>
          </a:p>
        </p:txBody>
      </p:sp>
      <p:sp>
        <p:nvSpPr>
          <p:cNvPr id="6" name="TextBox 5"/>
          <p:cNvSpPr txBox="1"/>
          <p:nvPr/>
        </p:nvSpPr>
        <p:spPr>
          <a:xfrm>
            <a:off x="883767" y="3931920"/>
            <a:ext cx="2743200" cy="1645920"/>
          </a:xfrm>
          <a:prstGeom prst="rect">
            <a:avLst/>
          </a:prstGeom>
          <a:noFill/>
        </p:spPr>
        <p:txBody>
          <a:bodyPr wrap="square" lIns="0" rIns="0" tIns="0" bIns="0" anchor="t">
            <a:spAutoFit/>
          </a:bodyPr>
          <a:lstStyle/>
          <a:p>
            <a:pPr algn="l"/>
            <a:r>
              <a:rPr sz="1600" b="0" i="0">
                <a:solidFill>
                  <a:srgbClr val="1A2B33"/>
                </a:solidFill>
                <a:latin typeface="Calibri"/>
              </a:rPr>
              <a:t>A language model can state a figure it never actually computed from the data.</a:t>
            </a:r>
          </a:p>
        </p:txBody>
      </p:sp>
      <p:sp>
        <p:nvSpPr>
          <p:cNvPr id="7" name="Card 2"/>
          <p:cNvSpPr/>
          <p:nvPr/>
        </p:nvSpPr>
        <p:spPr>
          <a:xfrm>
            <a:off x="4358487" y="1645920"/>
            <a:ext cx="3474720" cy="3566160"/>
          </a:xfrm>
          <a:prstGeom prst="roundRect">
            <a:avLst>
              <a:gd name="adj" fmla="val 3157"/>
            </a:avLst>
          </a:prstGeom>
          <a:solidFill>
            <a:srgbClr val="E8F0F1"/>
          </a:solidFill>
          <a:ln>
            <a:noFill/>
          </a:ln>
        </p:spPr>
        <p:txBody>
          <a:bodyPr rtlCol="0" anchor="ctr"/>
          <a:lstStyle/>
          <a:p/>
        </p:txBody>
      </p:sp>
      <p:sp>
        <p:nvSpPr>
          <p:cNvPr id="8" name="TextBox 7"/>
          <p:cNvSpPr txBox="1"/>
          <p:nvPr/>
        </p:nvSpPr>
        <p:spPr>
          <a:xfrm>
            <a:off x="4724247" y="2057400"/>
            <a:ext cx="2743200" cy="1005840"/>
          </a:xfrm>
          <a:prstGeom prst="rect">
            <a:avLst/>
          </a:prstGeom>
          <a:noFill/>
        </p:spPr>
        <p:txBody>
          <a:bodyPr wrap="square" lIns="0" rIns="0" tIns="0" bIns="0" anchor="t">
            <a:spAutoFit/>
          </a:bodyPr>
          <a:lstStyle/>
          <a:p>
            <a:pPr algn="l"/>
            <a:r>
              <a:rPr sz="5400" b="1" i="0">
                <a:solidFill>
                  <a:srgbClr val="E39B2D"/>
                </a:solidFill>
                <a:latin typeface="Cambria"/>
              </a:rPr>
              <a:t>&lt;/&gt;</a:t>
            </a:r>
          </a:p>
        </p:txBody>
      </p:sp>
      <p:sp>
        <p:nvSpPr>
          <p:cNvPr id="9" name="TextBox 8"/>
          <p:cNvSpPr txBox="1"/>
          <p:nvPr/>
        </p:nvSpPr>
        <p:spPr>
          <a:xfrm>
            <a:off x="4724247" y="3337560"/>
            <a:ext cx="2743200" cy="457200"/>
          </a:xfrm>
          <a:prstGeom prst="rect">
            <a:avLst/>
          </a:prstGeom>
          <a:noFill/>
        </p:spPr>
        <p:txBody>
          <a:bodyPr wrap="square" lIns="0" rIns="0" tIns="0" bIns="0" anchor="t">
            <a:spAutoFit/>
          </a:bodyPr>
          <a:lstStyle/>
          <a:p>
            <a:pPr algn="l"/>
            <a:r>
              <a:rPr sz="2200" b="1" i="0">
                <a:solidFill>
                  <a:srgbClr val="0F2E3D"/>
                </a:solidFill>
                <a:latin typeface="Calibri"/>
              </a:rPr>
              <a:t>No evidence</a:t>
            </a:r>
          </a:p>
        </p:txBody>
      </p:sp>
      <p:sp>
        <p:nvSpPr>
          <p:cNvPr id="10" name="TextBox 9"/>
          <p:cNvSpPr txBox="1"/>
          <p:nvPr/>
        </p:nvSpPr>
        <p:spPr>
          <a:xfrm>
            <a:off x="4724247" y="3931920"/>
            <a:ext cx="2743200" cy="1645920"/>
          </a:xfrm>
          <a:prstGeom prst="rect">
            <a:avLst/>
          </a:prstGeom>
          <a:noFill/>
        </p:spPr>
        <p:txBody>
          <a:bodyPr wrap="square" lIns="0" rIns="0" tIns="0" bIns="0" anchor="t">
            <a:spAutoFit/>
          </a:bodyPr>
          <a:lstStyle/>
          <a:p>
            <a:pPr algn="l"/>
            <a:r>
              <a:rPr sz="1600" b="0" i="0">
                <a:solidFill>
                  <a:srgbClr val="1A2B33"/>
                </a:solidFill>
                <a:latin typeface="Calibri"/>
              </a:rPr>
              <a:t>You can't see the code or the rows behind the answer, so you can't check it.</a:t>
            </a:r>
          </a:p>
        </p:txBody>
      </p:sp>
      <p:sp>
        <p:nvSpPr>
          <p:cNvPr id="11" name="Card 3"/>
          <p:cNvSpPr/>
          <p:nvPr/>
        </p:nvSpPr>
        <p:spPr>
          <a:xfrm>
            <a:off x="8198967" y="1645920"/>
            <a:ext cx="3474720" cy="3566160"/>
          </a:xfrm>
          <a:prstGeom prst="roundRect">
            <a:avLst>
              <a:gd name="adj" fmla="val 3157"/>
            </a:avLst>
          </a:prstGeom>
          <a:solidFill>
            <a:srgbClr val="E8F0F1"/>
          </a:solidFill>
          <a:ln>
            <a:noFill/>
          </a:ln>
        </p:spPr>
        <p:txBody>
          <a:bodyPr rtlCol="0" anchor="ctr"/>
          <a:lstStyle/>
          <a:p/>
        </p:txBody>
      </p:sp>
      <p:sp>
        <p:nvSpPr>
          <p:cNvPr id="12" name="TextBox 11"/>
          <p:cNvSpPr txBox="1"/>
          <p:nvPr/>
        </p:nvSpPr>
        <p:spPr>
          <a:xfrm>
            <a:off x="8564727" y="2057400"/>
            <a:ext cx="2743200" cy="1005840"/>
          </a:xfrm>
          <a:prstGeom prst="rect">
            <a:avLst/>
          </a:prstGeom>
          <a:noFill/>
        </p:spPr>
        <p:txBody>
          <a:bodyPr wrap="square" lIns="0" rIns="0" tIns="0" bIns="0" anchor="t">
            <a:spAutoFit/>
          </a:bodyPr>
          <a:lstStyle/>
          <a:p>
            <a:pPr algn="l"/>
            <a:r>
              <a:rPr sz="5400" b="1" i="0">
                <a:solidFill>
                  <a:srgbClr val="E39B2D"/>
                </a:solidFill>
                <a:latin typeface="Cambria"/>
              </a:rPr>
              <a:t>@</a:t>
            </a:r>
          </a:p>
        </p:txBody>
      </p:sp>
      <p:sp>
        <p:nvSpPr>
          <p:cNvPr id="13" name="TextBox 12"/>
          <p:cNvSpPr txBox="1"/>
          <p:nvPr/>
        </p:nvSpPr>
        <p:spPr>
          <a:xfrm>
            <a:off x="8564727" y="3337560"/>
            <a:ext cx="2743200" cy="457200"/>
          </a:xfrm>
          <a:prstGeom prst="rect">
            <a:avLst/>
          </a:prstGeom>
          <a:noFill/>
        </p:spPr>
        <p:txBody>
          <a:bodyPr wrap="square" lIns="0" rIns="0" tIns="0" bIns="0" anchor="t">
            <a:spAutoFit/>
          </a:bodyPr>
          <a:lstStyle/>
          <a:p>
            <a:pPr algn="l"/>
            <a:r>
              <a:rPr sz="2200" b="1" i="0">
                <a:solidFill>
                  <a:srgbClr val="0F2E3D"/>
                </a:solidFill>
                <a:latin typeface="Calibri"/>
              </a:rPr>
              <a:t>Privacy risk</a:t>
            </a:r>
          </a:p>
        </p:txBody>
      </p:sp>
      <p:sp>
        <p:nvSpPr>
          <p:cNvPr id="14" name="TextBox 13"/>
          <p:cNvSpPr txBox="1"/>
          <p:nvPr/>
        </p:nvSpPr>
        <p:spPr>
          <a:xfrm>
            <a:off x="8564727" y="3931920"/>
            <a:ext cx="2743200" cy="1645920"/>
          </a:xfrm>
          <a:prstGeom prst="rect">
            <a:avLst/>
          </a:prstGeom>
          <a:noFill/>
        </p:spPr>
        <p:txBody>
          <a:bodyPr wrap="square" lIns="0" rIns="0" tIns="0" bIns="0" anchor="t">
            <a:spAutoFit/>
          </a:bodyPr>
          <a:lstStyle/>
          <a:p>
            <a:pPr algn="l"/>
            <a:r>
              <a:rPr sz="1600" b="0" i="0">
                <a:solidFill>
                  <a:srgbClr val="1A2B33"/>
                </a:solidFill>
                <a:latin typeface="Calibri"/>
              </a:rPr>
              <a:t>Pasting raw customer data into an outside service exposes names and emails.</a:t>
            </a:r>
          </a:p>
        </p:txBody>
      </p:sp>
      <p:sp>
        <p:nvSpPr>
          <p:cNvPr id="15" name="TextBox 14"/>
          <p:cNvSpPr txBox="1"/>
          <p:nvPr/>
        </p:nvSpPr>
        <p:spPr>
          <a:xfrm>
            <a:off x="548640" y="5623560"/>
            <a:ext cx="11094415" cy="365760"/>
          </a:xfrm>
          <a:prstGeom prst="rect">
            <a:avLst/>
          </a:prstGeom>
          <a:noFill/>
        </p:spPr>
        <p:txBody>
          <a:bodyPr wrap="square" lIns="0" rIns="0" tIns="0" bIns="0" anchor="t">
            <a:spAutoFit/>
          </a:bodyPr>
          <a:lstStyle/>
          <a:p>
            <a:pPr algn="ctr"/>
            <a:r>
              <a:rPr sz="1600" b="0" i="1">
                <a:solidFill>
                  <a:srgbClr val="1F6F78"/>
                </a:solidFill>
                <a:latin typeface="Calibri"/>
              </a:rPr>
              <a:t>Our goal: answers that are computed, shown, checked, and private.</a:t>
            </a:r>
          </a:p>
        </p:txBody>
      </p:sp>
      <p:sp>
        <p:nvSpPr>
          <p:cNvPr id="16" name="Footer"/>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5C6E76"/>
                </a:solidFill>
                <a:latin typeface="Calibri"/>
              </a:rPr>
              <a:t>Capstone · Autonomous Data-Analysis Agent</a:t>
            </a:r>
          </a:p>
        </p:txBody>
      </p:sp>
      <p:sp>
        <p:nvSpPr>
          <p:cNvPr id="17" name="Slide number"/>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5C6E7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94415" cy="777240"/>
          </a:xfrm>
          <a:prstGeom prst="rect">
            <a:avLst/>
          </a:prstGeom>
          <a:noFill/>
        </p:spPr>
        <p:txBody>
          <a:bodyPr wrap="square" lIns="0" rIns="0" tIns="0" bIns="0" anchor="ctr">
            <a:spAutoFit/>
          </a:bodyPr>
          <a:lstStyle/>
          <a:p>
            <a:pPr algn="l"/>
            <a:r>
              <a:rPr sz="3400" b="1" i="0">
                <a:solidFill>
                  <a:srgbClr val="0F2E3D"/>
                </a:solidFill>
                <a:latin typeface="Cambria"/>
              </a:rPr>
              <a:t>One question in, a verified answer out</a:t>
            </a:r>
          </a:p>
        </p:txBody>
      </p:sp>
      <p:sp>
        <p:nvSpPr>
          <p:cNvPr id="3" name="TextBox 2"/>
          <p:cNvSpPr txBox="1"/>
          <p:nvPr/>
        </p:nvSpPr>
        <p:spPr>
          <a:xfrm>
            <a:off x="548640" y="1600200"/>
            <a:ext cx="4023360" cy="274320"/>
          </a:xfrm>
          <a:prstGeom prst="rect">
            <a:avLst/>
          </a:prstGeom>
          <a:noFill/>
        </p:spPr>
        <p:txBody>
          <a:bodyPr wrap="square" lIns="0" rIns="0" tIns="0" bIns="0" anchor="t">
            <a:spAutoFit/>
          </a:bodyPr>
          <a:lstStyle/>
          <a:p>
            <a:pPr algn="l"/>
            <a:r>
              <a:rPr sz="1200" b="1" i="0" spc="200">
                <a:solidFill>
                  <a:srgbClr val="5C6E76"/>
                </a:solidFill>
                <a:latin typeface="Calibri"/>
              </a:rPr>
              <a:t>THE USER ASKS</a:t>
            </a:r>
          </a:p>
        </p:txBody>
      </p:sp>
      <p:sp>
        <p:nvSpPr>
          <p:cNvPr id="4" name="Rounded Rectangle 3"/>
          <p:cNvSpPr/>
          <p:nvPr/>
        </p:nvSpPr>
        <p:spPr>
          <a:xfrm>
            <a:off x="548640" y="1965960"/>
            <a:ext cx="4023360" cy="1371600"/>
          </a:xfrm>
          <a:prstGeom prst="roundRect">
            <a:avLst>
              <a:gd name="adj" fmla="val 8000"/>
            </a:avLst>
          </a:prstGeom>
          <a:solidFill>
            <a:srgbClr val="0F2E3D"/>
          </a:solidFill>
          <a:ln>
            <a:noFill/>
          </a:ln>
        </p:spPr>
        <p:txBody>
          <a:bodyPr rtlCol="0" anchor="ctr"/>
          <a:lstStyle/>
          <a:p/>
        </p:txBody>
      </p:sp>
      <p:sp>
        <p:nvSpPr>
          <p:cNvPr id="5" name="TextBox 4"/>
          <p:cNvSpPr txBox="1"/>
          <p:nvPr/>
        </p:nvSpPr>
        <p:spPr>
          <a:xfrm>
            <a:off x="822959" y="1965960"/>
            <a:ext cx="3474720" cy="1371600"/>
          </a:xfrm>
          <a:prstGeom prst="rect">
            <a:avLst/>
          </a:prstGeom>
          <a:noFill/>
        </p:spPr>
        <p:txBody>
          <a:bodyPr wrap="square" lIns="0" rIns="0" tIns="0" bIns="0" anchor="ctr">
            <a:spAutoFit/>
          </a:bodyPr>
          <a:lstStyle/>
          <a:p>
            <a:pPr algn="l"/>
            <a:r>
              <a:rPr sz="1800" b="0" i="1">
                <a:solidFill>
                  <a:srgbClr val="FFFFFF"/>
                </a:solidFill>
                <a:latin typeface="Calibri"/>
              </a:rPr>
              <a:t>“How many orders came from customers in the West region?”</a:t>
            </a:r>
          </a:p>
        </p:txBody>
      </p:sp>
      <p:sp>
        <p:nvSpPr>
          <p:cNvPr id="6" name="TextBox 5"/>
          <p:cNvSpPr txBox="1"/>
          <p:nvPr/>
        </p:nvSpPr>
        <p:spPr>
          <a:xfrm>
            <a:off x="548640" y="3611880"/>
            <a:ext cx="4023360" cy="2377440"/>
          </a:xfrm>
          <a:prstGeom prst="rect">
            <a:avLst/>
          </a:prstGeom>
          <a:noFill/>
        </p:spPr>
        <p:txBody>
          <a:bodyPr wrap="square" lIns="0" rIns="0" tIns="0" bIns="0" anchor="t">
            <a:spAutoFit/>
          </a:bodyPr>
          <a:lstStyle/>
          <a:p>
            <a:pPr algn="l">
              <a:spcAft>
                <a:spcPts val="800"/>
              </a:spcAft>
            </a:pPr>
            <a:r>
              <a:rPr sz="1500" b="0" i="0">
                <a:solidFill>
                  <a:srgbClr val="1A2B33"/>
                </a:solidFill>
                <a:latin typeface="Calibri"/>
              </a:rPr>
              <a:t>Uploads: orders.csv and customers.csv</a:t>
            </a:r>
          </a:p>
          <a:p>
            <a:pPr algn="l">
              <a:spcAft>
                <a:spcPts val="800"/>
              </a:spcAft>
            </a:pPr>
            <a:r>
              <a:rPr sz="1500" b="0" i="0">
                <a:solidFill>
                  <a:srgbClr val="1A2B33"/>
                </a:solidFill>
                <a:latin typeface="Calibri"/>
              </a:rPr>
              <a:t>The two files are linked automatically on customer_id.</a:t>
            </a:r>
          </a:p>
          <a:p>
            <a:pPr algn="l">
              <a:spcAft>
                <a:spcPts val="800"/>
              </a:spcAft>
            </a:pPr>
            <a:r>
              <a:rPr sz="1500" b="0" i="0">
                <a:solidFill>
                  <a:srgbClr val="1A2B33"/>
                </a:solidFill>
                <a:latin typeface="Calibri"/>
              </a:rPr>
              <a:t>No code or SQL needed from the user.</a:t>
            </a:r>
          </a:p>
        </p:txBody>
      </p:sp>
      <p:cxnSp>
        <p:nvCxnSpPr>
          <p:cNvPr id="7" name="Connector 6"/>
          <p:cNvCxnSpPr/>
          <p:nvPr/>
        </p:nvCxnSpPr>
        <p:spPr>
          <a:xfrm>
            <a:off x="4754880" y="2651760"/>
            <a:ext cx="685800" cy="0"/>
          </a:xfrm>
          <a:prstGeom prst="line">
            <a:avLst/>
          </a:prstGeom>
          <a:ln w="31750">
            <a:solidFill>
              <a:srgbClr val="E39B2D"/>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577840" y="1600200"/>
            <a:ext cx="6065215" cy="274320"/>
          </a:xfrm>
          <a:prstGeom prst="rect">
            <a:avLst/>
          </a:prstGeom>
          <a:noFill/>
        </p:spPr>
        <p:txBody>
          <a:bodyPr wrap="square" lIns="0" rIns="0" tIns="0" bIns="0" anchor="t">
            <a:spAutoFit/>
          </a:bodyPr>
          <a:lstStyle/>
          <a:p>
            <a:pPr algn="l"/>
            <a:r>
              <a:rPr sz="1200" b="1" i="0" spc="200">
                <a:solidFill>
                  <a:srgbClr val="5C6E76"/>
                </a:solidFill>
                <a:latin typeface="Calibri"/>
              </a:rPr>
              <a:t>THE AGENT RETURNS</a:t>
            </a:r>
          </a:p>
        </p:txBody>
      </p:sp>
      <p:sp>
        <p:nvSpPr>
          <p:cNvPr id="9" name="Rounded Rectangle 8"/>
          <p:cNvSpPr/>
          <p:nvPr/>
        </p:nvSpPr>
        <p:spPr>
          <a:xfrm>
            <a:off x="5577840" y="1965960"/>
            <a:ext cx="6065215" cy="731520"/>
          </a:xfrm>
          <a:prstGeom prst="roundRect">
            <a:avLst>
              <a:gd name="adj" fmla="val 12000"/>
            </a:avLst>
          </a:prstGeom>
          <a:solidFill>
            <a:srgbClr val="FFFFFF"/>
          </a:solidFill>
          <a:ln w="25400">
            <a:solidFill>
              <a:srgbClr val="E39B2D"/>
            </a:solidFill>
          </a:ln>
        </p:spPr>
        <p:txBody>
          <a:bodyPr rtlCol="0" anchor="ctr"/>
          <a:lstStyle/>
          <a:p/>
        </p:txBody>
      </p:sp>
      <p:sp>
        <p:nvSpPr>
          <p:cNvPr id="10" name="TextBox 9"/>
          <p:cNvSpPr txBox="1"/>
          <p:nvPr/>
        </p:nvSpPr>
        <p:spPr>
          <a:xfrm>
            <a:off x="5852159" y="1965960"/>
            <a:ext cx="1554480" cy="731520"/>
          </a:xfrm>
          <a:prstGeom prst="rect">
            <a:avLst/>
          </a:prstGeom>
          <a:noFill/>
        </p:spPr>
        <p:txBody>
          <a:bodyPr wrap="square" lIns="0" rIns="0" tIns="0" bIns="0" anchor="ctr">
            <a:spAutoFit/>
          </a:bodyPr>
          <a:lstStyle/>
          <a:p>
            <a:pPr algn="l"/>
            <a:r>
              <a:rPr sz="1500" b="1" i="0">
                <a:solidFill>
                  <a:srgbClr val="0F2E3D"/>
                </a:solidFill>
                <a:latin typeface="Calibri"/>
              </a:rPr>
              <a:t>Answer</a:t>
            </a:r>
          </a:p>
        </p:txBody>
      </p:sp>
      <p:sp>
        <p:nvSpPr>
          <p:cNvPr id="11" name="TextBox 10"/>
          <p:cNvSpPr txBox="1"/>
          <p:nvPr/>
        </p:nvSpPr>
        <p:spPr>
          <a:xfrm>
            <a:off x="7498079" y="1965960"/>
            <a:ext cx="3870655" cy="731520"/>
          </a:xfrm>
          <a:prstGeom prst="rect">
            <a:avLst/>
          </a:prstGeom>
          <a:noFill/>
        </p:spPr>
        <p:txBody>
          <a:bodyPr wrap="square" lIns="0" rIns="0" tIns="0" bIns="0" anchor="ctr">
            <a:spAutoFit/>
          </a:bodyPr>
          <a:lstStyle/>
          <a:p>
            <a:pPr algn="l"/>
            <a:r>
              <a:rPr sz="2200" b="1" i="0">
                <a:solidFill>
                  <a:srgbClr val="1A2B33"/>
                </a:solidFill>
                <a:latin typeface="Calibri"/>
              </a:rPr>
              <a:t>11 orders</a:t>
            </a:r>
          </a:p>
        </p:txBody>
      </p:sp>
      <p:sp>
        <p:nvSpPr>
          <p:cNvPr id="12" name="Rounded Rectangle 11"/>
          <p:cNvSpPr/>
          <p:nvPr/>
        </p:nvSpPr>
        <p:spPr>
          <a:xfrm>
            <a:off x="5577840" y="2788920"/>
            <a:ext cx="6065215" cy="731520"/>
          </a:xfrm>
          <a:prstGeom prst="roundRect">
            <a:avLst>
              <a:gd name="adj" fmla="val 12000"/>
            </a:avLst>
          </a:prstGeom>
          <a:solidFill>
            <a:srgbClr val="E8F0F1"/>
          </a:solidFill>
          <a:ln>
            <a:noFill/>
          </a:ln>
        </p:spPr>
        <p:txBody>
          <a:bodyPr rtlCol="0" anchor="ctr"/>
          <a:lstStyle/>
          <a:p/>
        </p:txBody>
      </p:sp>
      <p:sp>
        <p:nvSpPr>
          <p:cNvPr id="13" name="TextBox 12"/>
          <p:cNvSpPr txBox="1"/>
          <p:nvPr/>
        </p:nvSpPr>
        <p:spPr>
          <a:xfrm>
            <a:off x="5852159" y="2788920"/>
            <a:ext cx="1554480" cy="731520"/>
          </a:xfrm>
          <a:prstGeom prst="rect">
            <a:avLst/>
          </a:prstGeom>
          <a:noFill/>
        </p:spPr>
        <p:txBody>
          <a:bodyPr wrap="square" lIns="0" rIns="0" tIns="0" bIns="0" anchor="ctr">
            <a:spAutoFit/>
          </a:bodyPr>
          <a:lstStyle/>
          <a:p>
            <a:pPr algn="l"/>
            <a:r>
              <a:rPr sz="1500" b="1" i="0">
                <a:solidFill>
                  <a:srgbClr val="0F2E3D"/>
                </a:solidFill>
                <a:latin typeface="Calibri"/>
              </a:rPr>
              <a:t>Code</a:t>
            </a:r>
          </a:p>
        </p:txBody>
      </p:sp>
      <p:sp>
        <p:nvSpPr>
          <p:cNvPr id="14" name="TextBox 13"/>
          <p:cNvSpPr txBox="1"/>
          <p:nvPr/>
        </p:nvSpPr>
        <p:spPr>
          <a:xfrm>
            <a:off x="7498079" y="2788920"/>
            <a:ext cx="3870655" cy="731520"/>
          </a:xfrm>
          <a:prstGeom prst="rect">
            <a:avLst/>
          </a:prstGeom>
          <a:noFill/>
        </p:spPr>
        <p:txBody>
          <a:bodyPr wrap="square" lIns="0" rIns="0" tIns="0" bIns="0" anchor="ctr">
            <a:spAutoFit/>
          </a:bodyPr>
          <a:lstStyle/>
          <a:p>
            <a:pPr algn="l"/>
            <a:r>
              <a:rPr sz="1500" b="0" i="0">
                <a:solidFill>
                  <a:srgbClr val="1A2B33"/>
                </a:solidFill>
                <a:latin typeface="Calibri"/>
              </a:rPr>
              <a:t>The exact pandas code that ran, shown and exportable as a notebook</a:t>
            </a:r>
          </a:p>
        </p:txBody>
      </p:sp>
      <p:sp>
        <p:nvSpPr>
          <p:cNvPr id="15" name="Rounded Rectangle 14"/>
          <p:cNvSpPr/>
          <p:nvPr/>
        </p:nvSpPr>
        <p:spPr>
          <a:xfrm>
            <a:off x="5577840" y="3611880"/>
            <a:ext cx="6065215" cy="731520"/>
          </a:xfrm>
          <a:prstGeom prst="roundRect">
            <a:avLst>
              <a:gd name="adj" fmla="val 12000"/>
            </a:avLst>
          </a:prstGeom>
          <a:solidFill>
            <a:srgbClr val="E8F0F1"/>
          </a:solidFill>
          <a:ln>
            <a:noFill/>
          </a:ln>
        </p:spPr>
        <p:txBody>
          <a:bodyPr rtlCol="0" anchor="ctr"/>
          <a:lstStyle/>
          <a:p/>
        </p:txBody>
      </p:sp>
      <p:sp>
        <p:nvSpPr>
          <p:cNvPr id="16" name="TextBox 15"/>
          <p:cNvSpPr txBox="1"/>
          <p:nvPr/>
        </p:nvSpPr>
        <p:spPr>
          <a:xfrm>
            <a:off x="5852159" y="3611880"/>
            <a:ext cx="1554480" cy="731520"/>
          </a:xfrm>
          <a:prstGeom prst="rect">
            <a:avLst/>
          </a:prstGeom>
          <a:noFill/>
        </p:spPr>
        <p:txBody>
          <a:bodyPr wrap="square" lIns="0" rIns="0" tIns="0" bIns="0" anchor="ctr">
            <a:spAutoFit/>
          </a:bodyPr>
          <a:lstStyle/>
          <a:p>
            <a:pPr algn="l"/>
            <a:r>
              <a:rPr sz="1500" b="1" i="0">
                <a:solidFill>
                  <a:srgbClr val="0F2E3D"/>
                </a:solidFill>
                <a:latin typeface="Calibri"/>
              </a:rPr>
              <a:t>Lineage</a:t>
            </a:r>
          </a:p>
        </p:txBody>
      </p:sp>
      <p:sp>
        <p:nvSpPr>
          <p:cNvPr id="17" name="TextBox 16"/>
          <p:cNvSpPr txBox="1"/>
          <p:nvPr/>
        </p:nvSpPr>
        <p:spPr>
          <a:xfrm>
            <a:off x="7498079" y="3611880"/>
            <a:ext cx="3870655" cy="731520"/>
          </a:xfrm>
          <a:prstGeom prst="rect">
            <a:avLst/>
          </a:prstGeom>
          <a:noFill/>
        </p:spPr>
        <p:txBody>
          <a:bodyPr wrap="square" lIns="0" rIns="0" tIns="0" bIns="0" anchor="ctr">
            <a:spAutoFit/>
          </a:bodyPr>
          <a:lstStyle/>
          <a:p>
            <a:pPr algn="l"/>
            <a:r>
              <a:rPr sz="1500" b="0" i="0">
                <a:solidFill>
                  <a:srgbClr val="1A2B33"/>
                </a:solidFill>
                <a:latin typeface="Calibri"/>
              </a:rPr>
              <a:t>Which columns were used: orders.customer_id, customers.region</a:t>
            </a:r>
          </a:p>
        </p:txBody>
      </p:sp>
      <p:sp>
        <p:nvSpPr>
          <p:cNvPr id="18" name="Rounded Rectangle 17"/>
          <p:cNvSpPr/>
          <p:nvPr/>
        </p:nvSpPr>
        <p:spPr>
          <a:xfrm>
            <a:off x="5577840" y="4434840"/>
            <a:ext cx="6065215" cy="731520"/>
          </a:xfrm>
          <a:prstGeom prst="roundRect">
            <a:avLst>
              <a:gd name="adj" fmla="val 12000"/>
            </a:avLst>
          </a:prstGeom>
          <a:solidFill>
            <a:srgbClr val="E8F0F1"/>
          </a:solidFill>
          <a:ln>
            <a:noFill/>
          </a:ln>
        </p:spPr>
        <p:txBody>
          <a:bodyPr rtlCol="0" anchor="ctr"/>
          <a:lstStyle/>
          <a:p/>
        </p:txBody>
      </p:sp>
      <p:sp>
        <p:nvSpPr>
          <p:cNvPr id="19" name="TextBox 18"/>
          <p:cNvSpPr txBox="1"/>
          <p:nvPr/>
        </p:nvSpPr>
        <p:spPr>
          <a:xfrm>
            <a:off x="5852159" y="4434840"/>
            <a:ext cx="1554480" cy="731520"/>
          </a:xfrm>
          <a:prstGeom prst="rect">
            <a:avLst/>
          </a:prstGeom>
          <a:noFill/>
        </p:spPr>
        <p:txBody>
          <a:bodyPr wrap="square" lIns="0" rIns="0" tIns="0" bIns="0" anchor="ctr">
            <a:spAutoFit/>
          </a:bodyPr>
          <a:lstStyle/>
          <a:p>
            <a:pPr algn="l"/>
            <a:r>
              <a:rPr sz="1500" b="1" i="0">
                <a:solidFill>
                  <a:srgbClr val="0F2E3D"/>
                </a:solidFill>
                <a:latin typeface="Calibri"/>
              </a:rPr>
              <a:t>Confidence</a:t>
            </a:r>
          </a:p>
        </p:txBody>
      </p:sp>
      <p:sp>
        <p:nvSpPr>
          <p:cNvPr id="20" name="TextBox 19"/>
          <p:cNvSpPr txBox="1"/>
          <p:nvPr/>
        </p:nvSpPr>
        <p:spPr>
          <a:xfrm>
            <a:off x="7498079" y="4434840"/>
            <a:ext cx="3870655" cy="731520"/>
          </a:xfrm>
          <a:prstGeom prst="rect">
            <a:avLst/>
          </a:prstGeom>
          <a:noFill/>
        </p:spPr>
        <p:txBody>
          <a:bodyPr wrap="square" lIns="0" rIns="0" tIns="0" bIns="0" anchor="ctr">
            <a:spAutoFit/>
          </a:bodyPr>
          <a:lstStyle/>
          <a:p>
            <a:pPr algn="l"/>
            <a:r>
              <a:rPr sz="1500" b="0" i="0">
                <a:solidFill>
                  <a:srgbClr val="1A2B33"/>
                </a:solidFill>
                <a:latin typeface="Calibri"/>
              </a:rPr>
              <a:t>A bootstrap range when the data has quality issues</a:t>
            </a:r>
          </a:p>
        </p:txBody>
      </p:sp>
      <p:sp>
        <p:nvSpPr>
          <p:cNvPr id="21" name="Rounded Rectangle 20"/>
          <p:cNvSpPr/>
          <p:nvPr/>
        </p:nvSpPr>
        <p:spPr>
          <a:xfrm>
            <a:off x="5577840" y="5257800"/>
            <a:ext cx="6065215" cy="731520"/>
          </a:xfrm>
          <a:prstGeom prst="roundRect">
            <a:avLst>
              <a:gd name="adj" fmla="val 12000"/>
            </a:avLst>
          </a:prstGeom>
          <a:solidFill>
            <a:srgbClr val="E8F0F1"/>
          </a:solidFill>
          <a:ln>
            <a:noFill/>
          </a:ln>
        </p:spPr>
        <p:txBody>
          <a:bodyPr rtlCol="0" anchor="ctr"/>
          <a:lstStyle/>
          <a:p/>
        </p:txBody>
      </p:sp>
      <p:sp>
        <p:nvSpPr>
          <p:cNvPr id="22" name="TextBox 21"/>
          <p:cNvSpPr txBox="1"/>
          <p:nvPr/>
        </p:nvSpPr>
        <p:spPr>
          <a:xfrm>
            <a:off x="5852159" y="5257800"/>
            <a:ext cx="1554480" cy="731520"/>
          </a:xfrm>
          <a:prstGeom prst="rect">
            <a:avLst/>
          </a:prstGeom>
          <a:noFill/>
        </p:spPr>
        <p:txBody>
          <a:bodyPr wrap="square" lIns="0" rIns="0" tIns="0" bIns="0" anchor="ctr">
            <a:spAutoFit/>
          </a:bodyPr>
          <a:lstStyle/>
          <a:p>
            <a:pPr algn="l"/>
            <a:r>
              <a:rPr sz="1500" b="1" i="0">
                <a:solidFill>
                  <a:srgbClr val="0F2E3D"/>
                </a:solidFill>
                <a:latin typeface="Calibri"/>
              </a:rPr>
              <a:t>Scope note</a:t>
            </a:r>
          </a:p>
        </p:txBody>
      </p:sp>
      <p:sp>
        <p:nvSpPr>
          <p:cNvPr id="23" name="TextBox 22"/>
          <p:cNvSpPr txBox="1"/>
          <p:nvPr/>
        </p:nvSpPr>
        <p:spPr>
          <a:xfrm>
            <a:off x="7498079" y="5257800"/>
            <a:ext cx="3870655" cy="731520"/>
          </a:xfrm>
          <a:prstGeom prst="rect">
            <a:avLst/>
          </a:prstGeom>
          <a:noFill/>
        </p:spPr>
        <p:txBody>
          <a:bodyPr wrap="square" lIns="0" rIns="0" tIns="0" bIns="0" anchor="ctr">
            <a:spAutoFit/>
          </a:bodyPr>
          <a:lstStyle/>
          <a:p>
            <a:pPr algn="l"/>
            <a:r>
              <a:rPr sz="1500" b="0" i="0">
                <a:solidFill>
                  <a:srgbClr val="1A2B33"/>
                </a:solidFill>
                <a:latin typeface="Calibri"/>
              </a:rPr>
              <a:t>A warning when the question asks more than the data can support</a:t>
            </a:r>
          </a:p>
        </p:txBody>
      </p:sp>
      <p:sp>
        <p:nvSpPr>
          <p:cNvPr id="24" name="Footer"/>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5C6E76"/>
                </a:solidFill>
                <a:latin typeface="Calibri"/>
              </a:rPr>
              <a:t>Capstone · Autonomous Data-Analysis Agent</a:t>
            </a:r>
          </a:p>
        </p:txBody>
      </p:sp>
      <p:sp>
        <p:nvSpPr>
          <p:cNvPr id="25" name="Slide number"/>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5C6E7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94415" cy="777240"/>
          </a:xfrm>
          <a:prstGeom prst="rect">
            <a:avLst/>
          </a:prstGeom>
          <a:noFill/>
        </p:spPr>
        <p:txBody>
          <a:bodyPr wrap="square" lIns="0" rIns="0" tIns="0" bIns="0" anchor="ctr">
            <a:spAutoFit/>
          </a:bodyPr>
          <a:lstStyle/>
          <a:p>
            <a:pPr algn="l"/>
            <a:r>
              <a:rPr sz="3400" b="1" i="0">
                <a:solidFill>
                  <a:srgbClr val="0F2E3D"/>
                </a:solidFill>
                <a:latin typeface="Cambria"/>
              </a:rPr>
              <a:t>A five-stage pipeline, built as a LangGraph state graph</a:t>
            </a:r>
          </a:p>
        </p:txBody>
      </p:sp>
      <p:sp>
        <p:nvSpPr>
          <p:cNvPr id="3" name="Rounded Rectangle 2"/>
          <p:cNvSpPr/>
          <p:nvPr/>
        </p:nvSpPr>
        <p:spPr>
          <a:xfrm>
            <a:off x="548640" y="2788920"/>
            <a:ext cx="1572768" cy="1051560"/>
          </a:xfrm>
          <a:prstGeom prst="roundRect">
            <a:avLst>
              <a:gd name="adj" fmla="val 10434"/>
            </a:avLst>
          </a:prstGeom>
          <a:solidFill>
            <a:srgbClr val="FFFFFF"/>
          </a:solidFill>
          <a:ln w="19050">
            <a:solidFill>
              <a:srgbClr val="0F2E3D"/>
            </a:solidFill>
          </a:ln>
        </p:spPr>
        <p:txBody>
          <a:bodyPr rtlCol="0" anchor="ctr"/>
          <a:lstStyle/>
          <a:p/>
        </p:txBody>
      </p:sp>
      <p:sp>
        <p:nvSpPr>
          <p:cNvPr id="4" name="TextBox 3"/>
          <p:cNvSpPr txBox="1"/>
          <p:nvPr/>
        </p:nvSpPr>
        <p:spPr>
          <a:xfrm>
            <a:off x="658368" y="2898648"/>
            <a:ext cx="1353312" cy="292608"/>
          </a:xfrm>
          <a:prstGeom prst="rect">
            <a:avLst/>
          </a:prstGeom>
          <a:noFill/>
        </p:spPr>
        <p:txBody>
          <a:bodyPr wrap="square" lIns="0" rIns="0" tIns="0" bIns="0" anchor="t">
            <a:spAutoFit/>
          </a:bodyPr>
          <a:lstStyle/>
          <a:p>
            <a:pPr algn="ctr"/>
            <a:r>
              <a:rPr sz="1600" b="1" i="0">
                <a:solidFill>
                  <a:srgbClr val="0F2E3D"/>
                </a:solidFill>
                <a:latin typeface="Calibri"/>
              </a:rPr>
              <a:t>Router</a:t>
            </a:r>
          </a:p>
        </p:txBody>
      </p:sp>
      <p:sp>
        <p:nvSpPr>
          <p:cNvPr id="5" name="TextBox 4"/>
          <p:cNvSpPr txBox="1"/>
          <p:nvPr/>
        </p:nvSpPr>
        <p:spPr>
          <a:xfrm>
            <a:off x="658368" y="3218687"/>
            <a:ext cx="1353312" cy="548639"/>
          </a:xfrm>
          <a:prstGeom prst="rect">
            <a:avLst/>
          </a:prstGeom>
          <a:noFill/>
        </p:spPr>
        <p:txBody>
          <a:bodyPr wrap="square" lIns="0" rIns="0" tIns="0" bIns="0" anchor="t">
            <a:spAutoFit/>
          </a:bodyPr>
          <a:lstStyle/>
          <a:p>
            <a:pPr algn="ctr"/>
            <a:r>
              <a:rPr sz="1200" b="0" i="0">
                <a:solidFill>
                  <a:srgbClr val="5C6E76"/>
                </a:solidFill>
                <a:latin typeface="Calibri"/>
              </a:rPr>
              <a:t>simple or multi-step?</a:t>
            </a:r>
          </a:p>
        </p:txBody>
      </p:sp>
      <p:cxnSp>
        <p:nvCxnSpPr>
          <p:cNvPr id="6" name="Connector 5"/>
          <p:cNvCxnSpPr/>
          <p:nvPr/>
        </p:nvCxnSpPr>
        <p:spPr>
          <a:xfrm>
            <a:off x="2157984" y="3314700"/>
            <a:ext cx="256031" cy="0"/>
          </a:xfrm>
          <a:prstGeom prst="line">
            <a:avLst/>
          </a:prstGeom>
          <a:ln w="22225">
            <a:solidFill>
              <a:srgbClr val="0F2E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450592" y="2788920"/>
            <a:ext cx="1572768" cy="1051560"/>
          </a:xfrm>
          <a:prstGeom prst="roundRect">
            <a:avLst>
              <a:gd name="adj" fmla="val 10434"/>
            </a:avLst>
          </a:prstGeom>
          <a:solidFill>
            <a:srgbClr val="FFFFFF"/>
          </a:solidFill>
          <a:ln w="19050">
            <a:solidFill>
              <a:srgbClr val="0F2E3D"/>
            </a:solidFill>
          </a:ln>
        </p:spPr>
        <p:txBody>
          <a:bodyPr rtlCol="0" anchor="ctr"/>
          <a:lstStyle/>
          <a:p/>
        </p:txBody>
      </p:sp>
      <p:sp>
        <p:nvSpPr>
          <p:cNvPr id="8" name="TextBox 7"/>
          <p:cNvSpPr txBox="1"/>
          <p:nvPr/>
        </p:nvSpPr>
        <p:spPr>
          <a:xfrm>
            <a:off x="2560320" y="2898648"/>
            <a:ext cx="1353312" cy="292608"/>
          </a:xfrm>
          <a:prstGeom prst="rect">
            <a:avLst/>
          </a:prstGeom>
          <a:noFill/>
        </p:spPr>
        <p:txBody>
          <a:bodyPr wrap="square" lIns="0" rIns="0" tIns="0" bIns="0" anchor="t">
            <a:spAutoFit/>
          </a:bodyPr>
          <a:lstStyle/>
          <a:p>
            <a:pPr algn="ctr"/>
            <a:r>
              <a:rPr sz="1600" b="1" i="0">
                <a:solidFill>
                  <a:srgbClr val="0F2E3D"/>
                </a:solidFill>
                <a:latin typeface="Calibri"/>
              </a:rPr>
              <a:t>Planner</a:t>
            </a:r>
          </a:p>
        </p:txBody>
      </p:sp>
      <p:sp>
        <p:nvSpPr>
          <p:cNvPr id="9" name="TextBox 8"/>
          <p:cNvSpPr txBox="1"/>
          <p:nvPr/>
        </p:nvSpPr>
        <p:spPr>
          <a:xfrm>
            <a:off x="2560320" y="3218687"/>
            <a:ext cx="1353312" cy="548639"/>
          </a:xfrm>
          <a:prstGeom prst="rect">
            <a:avLst/>
          </a:prstGeom>
          <a:noFill/>
        </p:spPr>
        <p:txBody>
          <a:bodyPr wrap="square" lIns="0" rIns="0" tIns="0" bIns="0" anchor="t">
            <a:spAutoFit/>
          </a:bodyPr>
          <a:lstStyle/>
          <a:p>
            <a:pPr algn="ctr"/>
            <a:r>
              <a:rPr sz="1200" b="0" i="0">
                <a:solidFill>
                  <a:srgbClr val="5C6E76"/>
                </a:solidFill>
                <a:latin typeface="Calibri"/>
              </a:rPr>
              <a:t>1 to N competing plans</a:t>
            </a:r>
          </a:p>
        </p:txBody>
      </p:sp>
      <p:cxnSp>
        <p:nvCxnSpPr>
          <p:cNvPr id="10" name="Connector 9"/>
          <p:cNvCxnSpPr/>
          <p:nvPr/>
        </p:nvCxnSpPr>
        <p:spPr>
          <a:xfrm>
            <a:off x="4059936" y="3314700"/>
            <a:ext cx="256032" cy="0"/>
          </a:xfrm>
          <a:prstGeom prst="line">
            <a:avLst/>
          </a:prstGeom>
          <a:ln w="22225">
            <a:solidFill>
              <a:srgbClr val="0F2E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352544" y="2788920"/>
            <a:ext cx="1572768" cy="1051560"/>
          </a:xfrm>
          <a:prstGeom prst="roundRect">
            <a:avLst>
              <a:gd name="adj" fmla="val 10434"/>
            </a:avLst>
          </a:prstGeom>
          <a:solidFill>
            <a:srgbClr val="0F2E3D"/>
          </a:solidFill>
          <a:ln w="19050">
            <a:solidFill>
              <a:srgbClr val="0F2E3D"/>
            </a:solidFill>
          </a:ln>
        </p:spPr>
        <p:txBody>
          <a:bodyPr rtlCol="0" anchor="ctr"/>
          <a:lstStyle/>
          <a:p/>
        </p:txBody>
      </p:sp>
      <p:sp>
        <p:nvSpPr>
          <p:cNvPr id="12" name="TextBox 11"/>
          <p:cNvSpPr txBox="1"/>
          <p:nvPr/>
        </p:nvSpPr>
        <p:spPr>
          <a:xfrm>
            <a:off x="4462272" y="2898648"/>
            <a:ext cx="1353312" cy="292608"/>
          </a:xfrm>
          <a:prstGeom prst="rect">
            <a:avLst/>
          </a:prstGeom>
          <a:noFill/>
        </p:spPr>
        <p:txBody>
          <a:bodyPr wrap="square" lIns="0" rIns="0" tIns="0" bIns="0" anchor="t">
            <a:spAutoFit/>
          </a:bodyPr>
          <a:lstStyle/>
          <a:p>
            <a:pPr algn="ctr"/>
            <a:r>
              <a:rPr sz="1600" b="1" i="0">
                <a:solidFill>
                  <a:srgbClr val="FFFFFF"/>
                </a:solidFill>
                <a:latin typeface="Calibri"/>
              </a:rPr>
              <a:t>Executor</a:t>
            </a:r>
          </a:p>
        </p:txBody>
      </p:sp>
      <p:sp>
        <p:nvSpPr>
          <p:cNvPr id="13" name="TextBox 12"/>
          <p:cNvSpPr txBox="1"/>
          <p:nvPr/>
        </p:nvSpPr>
        <p:spPr>
          <a:xfrm>
            <a:off x="4462272" y="3218687"/>
            <a:ext cx="1353312" cy="548639"/>
          </a:xfrm>
          <a:prstGeom prst="rect">
            <a:avLst/>
          </a:prstGeom>
          <a:noFill/>
        </p:spPr>
        <p:txBody>
          <a:bodyPr wrap="square" lIns="0" rIns="0" tIns="0" bIns="0" anchor="t">
            <a:spAutoFit/>
          </a:bodyPr>
          <a:lstStyle/>
          <a:p>
            <a:pPr algn="ctr"/>
            <a:r>
              <a:rPr sz="1200" b="0" i="0">
                <a:solidFill>
                  <a:srgbClr val="BFD6DA"/>
                </a:solidFill>
                <a:latin typeface="Calibri"/>
              </a:rPr>
              <a:t>writes and runs code</a:t>
            </a:r>
          </a:p>
        </p:txBody>
      </p:sp>
      <p:cxnSp>
        <p:nvCxnSpPr>
          <p:cNvPr id="14" name="Connector 13"/>
          <p:cNvCxnSpPr/>
          <p:nvPr/>
        </p:nvCxnSpPr>
        <p:spPr>
          <a:xfrm>
            <a:off x="5961888" y="3314700"/>
            <a:ext cx="256032" cy="0"/>
          </a:xfrm>
          <a:prstGeom prst="line">
            <a:avLst/>
          </a:prstGeom>
          <a:ln w="22225">
            <a:solidFill>
              <a:srgbClr val="0F2E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254496" y="2788920"/>
            <a:ext cx="1572768" cy="1051560"/>
          </a:xfrm>
          <a:prstGeom prst="roundRect">
            <a:avLst>
              <a:gd name="adj" fmla="val 10434"/>
            </a:avLst>
          </a:prstGeom>
          <a:solidFill>
            <a:srgbClr val="FFFFFF"/>
          </a:solidFill>
          <a:ln w="19050">
            <a:solidFill>
              <a:srgbClr val="0F2E3D"/>
            </a:solidFill>
          </a:ln>
        </p:spPr>
        <p:txBody>
          <a:bodyPr rtlCol="0" anchor="ctr"/>
          <a:lstStyle/>
          <a:p/>
        </p:txBody>
      </p:sp>
      <p:sp>
        <p:nvSpPr>
          <p:cNvPr id="16" name="TextBox 15"/>
          <p:cNvSpPr txBox="1"/>
          <p:nvPr/>
        </p:nvSpPr>
        <p:spPr>
          <a:xfrm>
            <a:off x="6364224" y="2898648"/>
            <a:ext cx="1353312" cy="292608"/>
          </a:xfrm>
          <a:prstGeom prst="rect">
            <a:avLst/>
          </a:prstGeom>
          <a:noFill/>
        </p:spPr>
        <p:txBody>
          <a:bodyPr wrap="square" lIns="0" rIns="0" tIns="0" bIns="0" anchor="t">
            <a:spAutoFit/>
          </a:bodyPr>
          <a:lstStyle/>
          <a:p>
            <a:pPr algn="ctr"/>
            <a:r>
              <a:rPr sz="1600" b="1" i="0">
                <a:solidFill>
                  <a:srgbClr val="0F2E3D"/>
                </a:solidFill>
                <a:latin typeface="Calibri"/>
              </a:rPr>
              <a:t>Verifier</a:t>
            </a:r>
          </a:p>
        </p:txBody>
      </p:sp>
      <p:sp>
        <p:nvSpPr>
          <p:cNvPr id="17" name="TextBox 16"/>
          <p:cNvSpPr txBox="1"/>
          <p:nvPr/>
        </p:nvSpPr>
        <p:spPr>
          <a:xfrm>
            <a:off x="6364224" y="3218687"/>
            <a:ext cx="1353312" cy="548639"/>
          </a:xfrm>
          <a:prstGeom prst="rect">
            <a:avLst/>
          </a:prstGeom>
          <a:noFill/>
        </p:spPr>
        <p:txBody>
          <a:bodyPr wrap="square" lIns="0" rIns="0" tIns="0" bIns="0" anchor="t">
            <a:spAutoFit/>
          </a:bodyPr>
          <a:lstStyle/>
          <a:p>
            <a:pPr algn="ctr"/>
            <a:r>
              <a:rPr sz="1200" b="0" i="0">
                <a:solidFill>
                  <a:srgbClr val="5C6E76"/>
                </a:solidFill>
                <a:latin typeface="Calibri"/>
              </a:rPr>
              <a:t>checks the answer</a:t>
            </a:r>
          </a:p>
        </p:txBody>
      </p:sp>
      <p:cxnSp>
        <p:nvCxnSpPr>
          <p:cNvPr id="18" name="Connector 17"/>
          <p:cNvCxnSpPr/>
          <p:nvPr/>
        </p:nvCxnSpPr>
        <p:spPr>
          <a:xfrm>
            <a:off x="7863840" y="3314700"/>
            <a:ext cx="256032" cy="0"/>
          </a:xfrm>
          <a:prstGeom prst="line">
            <a:avLst/>
          </a:prstGeom>
          <a:ln w="22225">
            <a:solidFill>
              <a:srgbClr val="0F2E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156448" y="2788920"/>
            <a:ext cx="1572768" cy="1051560"/>
          </a:xfrm>
          <a:prstGeom prst="roundRect">
            <a:avLst>
              <a:gd name="adj" fmla="val 10434"/>
            </a:avLst>
          </a:prstGeom>
          <a:solidFill>
            <a:srgbClr val="FFFFFF"/>
          </a:solidFill>
          <a:ln w="19050">
            <a:solidFill>
              <a:srgbClr val="0F2E3D"/>
            </a:solidFill>
          </a:ln>
        </p:spPr>
        <p:txBody>
          <a:bodyPr rtlCol="0" anchor="ctr"/>
          <a:lstStyle/>
          <a:p/>
        </p:txBody>
      </p:sp>
      <p:sp>
        <p:nvSpPr>
          <p:cNvPr id="20" name="TextBox 19"/>
          <p:cNvSpPr txBox="1"/>
          <p:nvPr/>
        </p:nvSpPr>
        <p:spPr>
          <a:xfrm>
            <a:off x="8266175" y="2898648"/>
            <a:ext cx="1353312" cy="292608"/>
          </a:xfrm>
          <a:prstGeom prst="rect">
            <a:avLst/>
          </a:prstGeom>
          <a:noFill/>
        </p:spPr>
        <p:txBody>
          <a:bodyPr wrap="square" lIns="0" rIns="0" tIns="0" bIns="0" anchor="t">
            <a:spAutoFit/>
          </a:bodyPr>
          <a:lstStyle/>
          <a:p>
            <a:pPr algn="ctr"/>
            <a:r>
              <a:rPr sz="1600" b="1" i="0">
                <a:solidFill>
                  <a:srgbClr val="0F2E3D"/>
                </a:solidFill>
                <a:latin typeface="Calibri"/>
              </a:rPr>
              <a:t>Consistency</a:t>
            </a:r>
          </a:p>
        </p:txBody>
      </p:sp>
      <p:sp>
        <p:nvSpPr>
          <p:cNvPr id="21" name="TextBox 20"/>
          <p:cNvSpPr txBox="1"/>
          <p:nvPr/>
        </p:nvSpPr>
        <p:spPr>
          <a:xfrm>
            <a:off x="8266175" y="3218687"/>
            <a:ext cx="1353312" cy="548639"/>
          </a:xfrm>
          <a:prstGeom prst="rect">
            <a:avLst/>
          </a:prstGeom>
          <a:noFill/>
        </p:spPr>
        <p:txBody>
          <a:bodyPr wrap="square" lIns="0" rIns="0" tIns="0" bIns="0" anchor="t">
            <a:spAutoFit/>
          </a:bodyPr>
          <a:lstStyle/>
          <a:p>
            <a:pPr algn="ctr"/>
            <a:r>
              <a:rPr sz="1200" b="0" i="0">
                <a:solidFill>
                  <a:srgbClr val="5C6E76"/>
                </a:solidFill>
                <a:latin typeface="Calibri"/>
              </a:rPr>
              <a:t>vs earlier answers</a:t>
            </a:r>
          </a:p>
        </p:txBody>
      </p:sp>
      <p:sp>
        <p:nvSpPr>
          <p:cNvPr id="22" name="Rounded Rectangle 21"/>
          <p:cNvSpPr/>
          <p:nvPr/>
        </p:nvSpPr>
        <p:spPr>
          <a:xfrm>
            <a:off x="10058400" y="2788920"/>
            <a:ext cx="1584655" cy="1051560"/>
          </a:xfrm>
          <a:prstGeom prst="roundRect">
            <a:avLst>
              <a:gd name="adj" fmla="val 10434"/>
            </a:avLst>
          </a:prstGeom>
          <a:solidFill>
            <a:srgbClr val="E39B2D"/>
          </a:solidFill>
          <a:ln w="15875">
            <a:solidFill>
              <a:srgbClr val="E39B2D"/>
            </a:solidFill>
          </a:ln>
        </p:spPr>
        <p:txBody>
          <a:bodyPr rtlCol="0" anchor="ctr"/>
          <a:lstStyle/>
          <a:p/>
        </p:txBody>
      </p:sp>
      <p:sp>
        <p:nvSpPr>
          <p:cNvPr id="23" name="TextBox 22"/>
          <p:cNvSpPr txBox="1"/>
          <p:nvPr/>
        </p:nvSpPr>
        <p:spPr>
          <a:xfrm>
            <a:off x="10168128" y="2898648"/>
            <a:ext cx="1365199" cy="292608"/>
          </a:xfrm>
          <a:prstGeom prst="rect">
            <a:avLst/>
          </a:prstGeom>
          <a:noFill/>
        </p:spPr>
        <p:txBody>
          <a:bodyPr wrap="square" lIns="0" rIns="0" tIns="0" bIns="0" anchor="t">
            <a:spAutoFit/>
          </a:bodyPr>
          <a:lstStyle/>
          <a:p>
            <a:pPr algn="ctr"/>
            <a:r>
              <a:rPr sz="1600" b="1" i="0">
                <a:solidFill>
                  <a:srgbClr val="0F2E3D"/>
                </a:solidFill>
                <a:latin typeface="Calibri"/>
              </a:rPr>
              <a:t>Answer</a:t>
            </a:r>
          </a:p>
        </p:txBody>
      </p:sp>
      <p:sp>
        <p:nvSpPr>
          <p:cNvPr id="24" name="TextBox 23"/>
          <p:cNvSpPr txBox="1"/>
          <p:nvPr/>
        </p:nvSpPr>
        <p:spPr>
          <a:xfrm>
            <a:off x="10168128" y="3218687"/>
            <a:ext cx="1365199" cy="548639"/>
          </a:xfrm>
          <a:prstGeom prst="rect">
            <a:avLst/>
          </a:prstGeom>
          <a:noFill/>
        </p:spPr>
        <p:txBody>
          <a:bodyPr wrap="square" lIns="0" rIns="0" tIns="0" bIns="0" anchor="t">
            <a:spAutoFit/>
          </a:bodyPr>
          <a:lstStyle/>
          <a:p>
            <a:pPr algn="ctr"/>
            <a:r>
              <a:rPr sz="1200" b="0" i="0">
                <a:solidFill>
                  <a:srgbClr val="0F2E3D"/>
                </a:solidFill>
                <a:latin typeface="Calibri"/>
              </a:rPr>
              <a:t>with code and lineage</a:t>
            </a:r>
          </a:p>
        </p:txBody>
      </p:sp>
      <p:cxnSp>
        <p:nvCxnSpPr>
          <p:cNvPr id="25" name="Connector 24"/>
          <p:cNvCxnSpPr/>
          <p:nvPr/>
        </p:nvCxnSpPr>
        <p:spPr>
          <a:xfrm>
            <a:off x="9765792" y="3314700"/>
            <a:ext cx="256032" cy="0"/>
          </a:xfrm>
          <a:prstGeom prst="line">
            <a:avLst/>
          </a:prstGeom>
          <a:ln w="22225">
            <a:solidFill>
              <a:srgbClr val="0F2E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548640" y="1463040"/>
            <a:ext cx="2377440" cy="777240"/>
          </a:xfrm>
          <a:prstGeom prst="roundRect">
            <a:avLst>
              <a:gd name="adj" fmla="val 12000"/>
            </a:avLst>
          </a:prstGeom>
          <a:solidFill>
            <a:srgbClr val="E8F0F1"/>
          </a:solidFill>
          <a:ln>
            <a:noFill/>
          </a:ln>
        </p:spPr>
        <p:txBody>
          <a:bodyPr rtlCol="0" anchor="ctr"/>
          <a:lstStyle/>
          <a:p/>
        </p:txBody>
      </p:sp>
      <p:sp>
        <p:nvSpPr>
          <p:cNvPr id="27" name="TextBox 26"/>
          <p:cNvSpPr txBox="1"/>
          <p:nvPr/>
        </p:nvSpPr>
        <p:spPr>
          <a:xfrm>
            <a:off x="658368" y="1463040"/>
            <a:ext cx="2157984" cy="777240"/>
          </a:xfrm>
          <a:prstGeom prst="rect">
            <a:avLst/>
          </a:prstGeom>
          <a:noFill/>
        </p:spPr>
        <p:txBody>
          <a:bodyPr wrap="square" lIns="0" rIns="0" tIns="0" bIns="0" anchor="ctr">
            <a:spAutoFit/>
          </a:bodyPr>
          <a:lstStyle/>
          <a:p>
            <a:pPr algn="ctr"/>
            <a:r>
              <a:rPr sz="1500" b="1" i="0">
                <a:solidFill>
                  <a:srgbClr val="0F2E3D"/>
                </a:solidFill>
                <a:latin typeface="Calibri"/>
              </a:rPr>
              <a:t>Upload + question</a:t>
            </a:r>
          </a:p>
        </p:txBody>
      </p:sp>
      <p:sp>
        <p:nvSpPr>
          <p:cNvPr id="28" name="Rounded Rectangle 27"/>
          <p:cNvSpPr/>
          <p:nvPr/>
        </p:nvSpPr>
        <p:spPr>
          <a:xfrm>
            <a:off x="3291840" y="1463040"/>
            <a:ext cx="3840480" cy="777240"/>
          </a:xfrm>
          <a:prstGeom prst="roundRect">
            <a:avLst>
              <a:gd name="adj" fmla="val 12000"/>
            </a:avLst>
          </a:prstGeom>
          <a:solidFill>
            <a:srgbClr val="E8F0F1"/>
          </a:solidFill>
          <a:ln>
            <a:noFill/>
          </a:ln>
        </p:spPr>
        <p:txBody>
          <a:bodyPr rtlCol="0" anchor="ctr"/>
          <a:lstStyle/>
          <a:p/>
        </p:txBody>
      </p:sp>
      <p:sp>
        <p:nvSpPr>
          <p:cNvPr id="29" name="TextBox 28"/>
          <p:cNvSpPr txBox="1"/>
          <p:nvPr/>
        </p:nvSpPr>
        <p:spPr>
          <a:xfrm>
            <a:off x="3401568" y="1572768"/>
            <a:ext cx="3621024" cy="292608"/>
          </a:xfrm>
          <a:prstGeom prst="rect">
            <a:avLst/>
          </a:prstGeom>
          <a:noFill/>
        </p:spPr>
        <p:txBody>
          <a:bodyPr wrap="square" lIns="0" rIns="0" tIns="0" bIns="0" anchor="t">
            <a:spAutoFit/>
          </a:bodyPr>
          <a:lstStyle/>
          <a:p>
            <a:pPr algn="ctr"/>
            <a:r>
              <a:rPr sz="1500" b="1" i="0">
                <a:solidFill>
                  <a:srgbClr val="0F2E3D"/>
                </a:solidFill>
                <a:latin typeface="Calibri"/>
              </a:rPr>
              <a:t>Ingestion</a:t>
            </a:r>
          </a:p>
        </p:txBody>
      </p:sp>
      <p:sp>
        <p:nvSpPr>
          <p:cNvPr id="30" name="TextBox 29"/>
          <p:cNvSpPr txBox="1"/>
          <p:nvPr/>
        </p:nvSpPr>
        <p:spPr>
          <a:xfrm>
            <a:off x="3401568" y="1892808"/>
            <a:ext cx="3621024" cy="274319"/>
          </a:xfrm>
          <a:prstGeom prst="rect">
            <a:avLst/>
          </a:prstGeom>
          <a:noFill/>
        </p:spPr>
        <p:txBody>
          <a:bodyPr wrap="square" lIns="0" rIns="0" tIns="0" bIns="0" anchor="t">
            <a:spAutoFit/>
          </a:bodyPr>
          <a:lstStyle/>
          <a:p>
            <a:pPr algn="ctr"/>
            <a:r>
              <a:rPr sz="1200" b="0" i="0">
                <a:solidFill>
                  <a:srgbClr val="5C6E76"/>
                </a:solidFill>
                <a:latin typeface="Calibri"/>
              </a:rPr>
              <a:t>profile · PII mask · quality · joins</a:t>
            </a:r>
          </a:p>
        </p:txBody>
      </p:sp>
      <p:cxnSp>
        <p:nvCxnSpPr>
          <p:cNvPr id="31" name="Connector 30"/>
          <p:cNvCxnSpPr/>
          <p:nvPr/>
        </p:nvCxnSpPr>
        <p:spPr>
          <a:xfrm>
            <a:off x="2962656" y="1847088"/>
            <a:ext cx="292608" cy="0"/>
          </a:xfrm>
          <a:prstGeom prst="line">
            <a:avLst/>
          </a:prstGeom>
          <a:ln w="19050">
            <a:solidFill>
              <a:srgbClr val="0F2E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212080" y="2276856"/>
            <a:ext cx="0" cy="210312"/>
          </a:xfrm>
          <a:prstGeom prst="line">
            <a:avLst/>
          </a:prstGeom>
          <a:ln w="28575">
            <a:solidFill>
              <a:srgbClr val="E39B2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1335024" y="2487168"/>
            <a:ext cx="3877056" cy="0"/>
          </a:xfrm>
          <a:prstGeom prst="line">
            <a:avLst/>
          </a:prstGeom>
          <a:ln w="28575">
            <a:solidFill>
              <a:srgbClr val="E39B2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335024" y="2487168"/>
            <a:ext cx="0" cy="265176"/>
          </a:xfrm>
          <a:prstGeom prst="line">
            <a:avLst/>
          </a:prstGeom>
          <a:ln w="28575">
            <a:solidFill>
              <a:srgbClr val="E39B2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315200" y="1600200"/>
            <a:ext cx="4297680" cy="548640"/>
          </a:xfrm>
          <a:prstGeom prst="rect">
            <a:avLst/>
          </a:prstGeom>
          <a:noFill/>
        </p:spPr>
        <p:txBody>
          <a:bodyPr wrap="square" lIns="0" rIns="0" tIns="0" bIns="0" anchor="t">
            <a:spAutoFit/>
          </a:bodyPr>
          <a:lstStyle/>
          <a:p>
            <a:pPr algn="l"/>
            <a:r>
              <a:rPr sz="1400" b="0" i="1">
                <a:solidFill>
                  <a:srgbClr val="1F6F78"/>
                </a:solidFill>
                <a:latin typeface="Calibri"/>
              </a:rPr>
              <a:t>Only a masked summary of the data goes to the model. Raw rows stay local.</a:t>
            </a:r>
          </a:p>
        </p:txBody>
      </p:sp>
      <p:sp>
        <p:nvSpPr>
          <p:cNvPr id="36" name="Rounded Rectangle 35"/>
          <p:cNvSpPr/>
          <p:nvPr/>
        </p:nvSpPr>
        <p:spPr>
          <a:xfrm>
            <a:off x="548640" y="4709160"/>
            <a:ext cx="3264408" cy="914400"/>
          </a:xfrm>
          <a:prstGeom prst="roundRect">
            <a:avLst>
              <a:gd name="adj" fmla="val 12000"/>
            </a:avLst>
          </a:prstGeom>
          <a:solidFill>
            <a:srgbClr val="FFFFFF"/>
          </a:solidFill>
          <a:ln w="15875">
            <a:solidFill>
              <a:srgbClr val="C5D3D6"/>
            </a:solidFill>
          </a:ln>
        </p:spPr>
        <p:txBody>
          <a:bodyPr rtlCol="0" anchor="ctr"/>
          <a:lstStyle/>
          <a:p/>
        </p:txBody>
      </p:sp>
      <p:sp>
        <p:nvSpPr>
          <p:cNvPr id="37" name="TextBox 36"/>
          <p:cNvSpPr txBox="1"/>
          <p:nvPr/>
        </p:nvSpPr>
        <p:spPr>
          <a:xfrm>
            <a:off x="658368" y="4818888"/>
            <a:ext cx="3044952" cy="292608"/>
          </a:xfrm>
          <a:prstGeom prst="rect">
            <a:avLst/>
          </a:prstGeom>
          <a:noFill/>
        </p:spPr>
        <p:txBody>
          <a:bodyPr wrap="square" lIns="0" rIns="0" tIns="0" bIns="0" anchor="t">
            <a:spAutoFit/>
          </a:bodyPr>
          <a:lstStyle/>
          <a:p>
            <a:pPr algn="ctr"/>
            <a:r>
              <a:rPr sz="1600" b="1" i="0">
                <a:solidFill>
                  <a:srgbClr val="0F2E3D"/>
                </a:solidFill>
                <a:latin typeface="Calibri"/>
              </a:rPr>
              <a:t>Model client</a:t>
            </a:r>
          </a:p>
        </p:txBody>
      </p:sp>
      <p:sp>
        <p:nvSpPr>
          <p:cNvPr id="38" name="TextBox 37"/>
          <p:cNvSpPr txBox="1"/>
          <p:nvPr/>
        </p:nvSpPr>
        <p:spPr>
          <a:xfrm>
            <a:off x="658368" y="5138928"/>
            <a:ext cx="3044952" cy="411479"/>
          </a:xfrm>
          <a:prstGeom prst="rect">
            <a:avLst/>
          </a:prstGeom>
          <a:noFill/>
        </p:spPr>
        <p:txBody>
          <a:bodyPr wrap="square" lIns="0" rIns="0" tIns="0" bIns="0" anchor="t">
            <a:spAutoFit/>
          </a:bodyPr>
          <a:lstStyle/>
          <a:p>
            <a:pPr algn="ctr"/>
            <a:r>
              <a:rPr sz="1300" b="0" i="0">
                <a:solidFill>
                  <a:srgbClr val="5C6E76"/>
                </a:solidFill>
                <a:latin typeface="Calibri"/>
              </a:rPr>
              <a:t>Groq free tier · used by every stage</a:t>
            </a:r>
          </a:p>
        </p:txBody>
      </p:sp>
      <p:sp>
        <p:nvSpPr>
          <p:cNvPr id="39" name="Rounded Rectangle 38"/>
          <p:cNvSpPr/>
          <p:nvPr/>
        </p:nvSpPr>
        <p:spPr>
          <a:xfrm>
            <a:off x="4087368" y="4709160"/>
            <a:ext cx="2103120" cy="914400"/>
          </a:xfrm>
          <a:prstGeom prst="roundRect">
            <a:avLst>
              <a:gd name="adj" fmla="val 12000"/>
            </a:avLst>
          </a:prstGeom>
          <a:solidFill>
            <a:srgbClr val="FFFFFF"/>
          </a:solidFill>
          <a:ln w="19050">
            <a:solidFill>
              <a:srgbClr val="0F2E3D"/>
            </a:solidFill>
          </a:ln>
        </p:spPr>
        <p:txBody>
          <a:bodyPr rtlCol="0" anchor="ctr"/>
          <a:lstStyle/>
          <a:p/>
        </p:txBody>
      </p:sp>
      <p:sp>
        <p:nvSpPr>
          <p:cNvPr id="40" name="TextBox 39"/>
          <p:cNvSpPr txBox="1"/>
          <p:nvPr/>
        </p:nvSpPr>
        <p:spPr>
          <a:xfrm>
            <a:off x="4197096" y="4818888"/>
            <a:ext cx="1883663" cy="292608"/>
          </a:xfrm>
          <a:prstGeom prst="rect">
            <a:avLst/>
          </a:prstGeom>
          <a:noFill/>
        </p:spPr>
        <p:txBody>
          <a:bodyPr wrap="square" lIns="0" rIns="0" tIns="0" bIns="0" anchor="t">
            <a:spAutoFit/>
          </a:bodyPr>
          <a:lstStyle/>
          <a:p>
            <a:pPr algn="ctr"/>
            <a:r>
              <a:rPr sz="1600" b="1" i="0">
                <a:solidFill>
                  <a:srgbClr val="0F2E3D"/>
                </a:solidFill>
                <a:latin typeface="Calibri"/>
              </a:rPr>
              <a:t>Sandbox</a:t>
            </a:r>
          </a:p>
        </p:txBody>
      </p:sp>
      <p:sp>
        <p:nvSpPr>
          <p:cNvPr id="41" name="TextBox 40"/>
          <p:cNvSpPr txBox="1"/>
          <p:nvPr/>
        </p:nvSpPr>
        <p:spPr>
          <a:xfrm>
            <a:off x="4197096" y="5138928"/>
            <a:ext cx="1883663" cy="411479"/>
          </a:xfrm>
          <a:prstGeom prst="rect">
            <a:avLst/>
          </a:prstGeom>
          <a:noFill/>
        </p:spPr>
        <p:txBody>
          <a:bodyPr wrap="square" lIns="0" rIns="0" tIns="0" bIns="0" anchor="t">
            <a:spAutoFit/>
          </a:bodyPr>
          <a:lstStyle/>
          <a:p>
            <a:pPr algn="ctr"/>
            <a:r>
              <a:rPr sz="1300" b="0" i="0">
                <a:solidFill>
                  <a:srgbClr val="5C6E76"/>
                </a:solidFill>
                <a:latin typeface="Calibri"/>
              </a:rPr>
              <a:t>separate local process</a:t>
            </a:r>
          </a:p>
        </p:txBody>
      </p:sp>
      <p:sp>
        <p:nvSpPr>
          <p:cNvPr id="42" name="Rounded Rectangle 41"/>
          <p:cNvSpPr/>
          <p:nvPr/>
        </p:nvSpPr>
        <p:spPr>
          <a:xfrm>
            <a:off x="6464807" y="4709160"/>
            <a:ext cx="5178247" cy="914400"/>
          </a:xfrm>
          <a:prstGeom prst="roundRect">
            <a:avLst>
              <a:gd name="adj" fmla="val 12000"/>
            </a:avLst>
          </a:prstGeom>
          <a:solidFill>
            <a:srgbClr val="FFFFFF"/>
          </a:solidFill>
          <a:ln w="15875">
            <a:solidFill>
              <a:srgbClr val="C5D3D6"/>
            </a:solidFill>
          </a:ln>
        </p:spPr>
        <p:txBody>
          <a:bodyPr rtlCol="0" anchor="ctr"/>
          <a:lstStyle/>
          <a:p/>
        </p:txBody>
      </p:sp>
      <p:sp>
        <p:nvSpPr>
          <p:cNvPr id="43" name="TextBox 42"/>
          <p:cNvSpPr txBox="1"/>
          <p:nvPr/>
        </p:nvSpPr>
        <p:spPr>
          <a:xfrm>
            <a:off x="6574536" y="4818888"/>
            <a:ext cx="4958791" cy="292608"/>
          </a:xfrm>
          <a:prstGeom prst="rect">
            <a:avLst/>
          </a:prstGeom>
          <a:noFill/>
        </p:spPr>
        <p:txBody>
          <a:bodyPr wrap="square" lIns="0" rIns="0" tIns="0" bIns="0" anchor="t">
            <a:spAutoFit/>
          </a:bodyPr>
          <a:lstStyle/>
          <a:p>
            <a:pPr algn="ctr"/>
            <a:r>
              <a:rPr sz="1600" b="1" i="0">
                <a:solidFill>
                  <a:srgbClr val="0F2E3D"/>
                </a:solidFill>
                <a:latin typeface="Calibri"/>
              </a:rPr>
              <a:t>Local stores</a:t>
            </a:r>
          </a:p>
        </p:txBody>
      </p:sp>
      <p:sp>
        <p:nvSpPr>
          <p:cNvPr id="44" name="TextBox 43"/>
          <p:cNvSpPr txBox="1"/>
          <p:nvPr/>
        </p:nvSpPr>
        <p:spPr>
          <a:xfrm>
            <a:off x="6574536" y="5138928"/>
            <a:ext cx="4958791" cy="411479"/>
          </a:xfrm>
          <a:prstGeom prst="rect">
            <a:avLst/>
          </a:prstGeom>
          <a:noFill/>
        </p:spPr>
        <p:txBody>
          <a:bodyPr wrap="square" lIns="0" rIns="0" tIns="0" bIns="0" anchor="t">
            <a:spAutoFit/>
          </a:bodyPr>
          <a:lstStyle/>
          <a:p>
            <a:pPr algn="ctr"/>
            <a:r>
              <a:rPr sz="1300" b="0" i="0">
                <a:solidFill>
                  <a:srgbClr val="5C6E76"/>
                </a:solidFill>
                <a:latin typeface="Calibri"/>
              </a:rPr>
              <a:t>cache · vector memory · uploaded files</a:t>
            </a:r>
          </a:p>
        </p:txBody>
      </p:sp>
      <p:cxnSp>
        <p:nvCxnSpPr>
          <p:cNvPr id="45" name="Connector 44"/>
          <p:cNvCxnSpPr/>
          <p:nvPr/>
        </p:nvCxnSpPr>
        <p:spPr>
          <a:xfrm>
            <a:off x="5138928" y="3877056"/>
            <a:ext cx="0" cy="795528"/>
          </a:xfrm>
          <a:prstGeom prst="line">
            <a:avLst/>
          </a:prstGeom>
          <a:ln w="19050">
            <a:solidFill>
              <a:srgbClr val="5C6E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230368" y="4069080"/>
            <a:ext cx="1737360" cy="365760"/>
          </a:xfrm>
          <a:prstGeom prst="rect">
            <a:avLst/>
          </a:prstGeom>
          <a:noFill/>
        </p:spPr>
        <p:txBody>
          <a:bodyPr wrap="square" lIns="0" rIns="0" tIns="0" bIns="0" anchor="t">
            <a:spAutoFit/>
          </a:bodyPr>
          <a:lstStyle/>
          <a:p>
            <a:pPr algn="l"/>
            <a:r>
              <a:rPr sz="1200" b="0" i="1">
                <a:solidFill>
                  <a:srgbClr val="5C6E76"/>
                </a:solidFill>
                <a:latin typeface="Calibri"/>
              </a:rPr>
              <a:t>runs code in</a:t>
            </a:r>
          </a:p>
        </p:txBody>
      </p:sp>
      <p:sp>
        <p:nvSpPr>
          <p:cNvPr id="47" name="Footer"/>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5C6E76"/>
                </a:solidFill>
                <a:latin typeface="Calibri"/>
              </a:rPr>
              <a:t>Capstone · Autonomous Data-Analysis Agent</a:t>
            </a:r>
          </a:p>
        </p:txBody>
      </p:sp>
      <p:sp>
        <p:nvSpPr>
          <p:cNvPr id="48" name="Slide number"/>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5C6E7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94415" cy="777240"/>
          </a:xfrm>
          <a:prstGeom prst="rect">
            <a:avLst/>
          </a:prstGeom>
          <a:noFill/>
        </p:spPr>
        <p:txBody>
          <a:bodyPr wrap="square" lIns="0" rIns="0" tIns="0" bIns="0" anchor="ctr">
            <a:spAutoFit/>
          </a:bodyPr>
          <a:lstStyle/>
          <a:p>
            <a:pPr algn="l"/>
            <a:r>
              <a:rPr sz="3400" b="1" i="0">
                <a:solidFill>
                  <a:srgbClr val="0F2E3D"/>
                </a:solidFill>
                <a:latin typeface="Cambria"/>
              </a:rPr>
              <a:t>The agent catches and fixes its own mistakes</a:t>
            </a:r>
          </a:p>
        </p:txBody>
      </p:sp>
      <p:sp>
        <p:nvSpPr>
          <p:cNvPr id="3" name="Rounded Rectangle 2"/>
          <p:cNvSpPr/>
          <p:nvPr/>
        </p:nvSpPr>
        <p:spPr>
          <a:xfrm>
            <a:off x="548640" y="2148840"/>
            <a:ext cx="1600200" cy="960120"/>
          </a:xfrm>
          <a:prstGeom prst="roundRect">
            <a:avLst>
              <a:gd name="adj" fmla="val 11428"/>
            </a:avLst>
          </a:prstGeom>
          <a:solidFill>
            <a:srgbClr val="FFFFFF"/>
          </a:solidFill>
          <a:ln w="15875">
            <a:solidFill>
              <a:srgbClr val="0F2E3D"/>
            </a:solidFill>
          </a:ln>
        </p:spPr>
        <p:txBody>
          <a:bodyPr rtlCol="0" anchor="ctr"/>
          <a:lstStyle/>
          <a:p/>
        </p:txBody>
      </p:sp>
      <p:sp>
        <p:nvSpPr>
          <p:cNvPr id="4" name="TextBox 3"/>
          <p:cNvSpPr txBox="1"/>
          <p:nvPr/>
        </p:nvSpPr>
        <p:spPr>
          <a:xfrm>
            <a:off x="658368" y="2258568"/>
            <a:ext cx="1380744" cy="292608"/>
          </a:xfrm>
          <a:prstGeom prst="rect">
            <a:avLst/>
          </a:prstGeom>
          <a:noFill/>
        </p:spPr>
        <p:txBody>
          <a:bodyPr wrap="square" lIns="0" rIns="0" tIns="0" bIns="0" anchor="t">
            <a:spAutoFit/>
          </a:bodyPr>
          <a:lstStyle/>
          <a:p>
            <a:pPr algn="ctr"/>
            <a:r>
              <a:rPr sz="1500" b="1" i="0">
                <a:solidFill>
                  <a:srgbClr val="0F2E3D"/>
                </a:solidFill>
                <a:latin typeface="Calibri"/>
              </a:rPr>
              <a:t>Cache</a:t>
            </a:r>
          </a:p>
        </p:txBody>
      </p:sp>
      <p:sp>
        <p:nvSpPr>
          <p:cNvPr id="5" name="TextBox 4"/>
          <p:cNvSpPr txBox="1"/>
          <p:nvPr/>
        </p:nvSpPr>
        <p:spPr>
          <a:xfrm>
            <a:off x="658368" y="2578608"/>
            <a:ext cx="1380744" cy="457200"/>
          </a:xfrm>
          <a:prstGeom prst="rect">
            <a:avLst/>
          </a:prstGeom>
          <a:noFill/>
        </p:spPr>
        <p:txBody>
          <a:bodyPr wrap="square" lIns="0" rIns="0" tIns="0" bIns="0" anchor="t">
            <a:spAutoFit/>
          </a:bodyPr>
          <a:lstStyle/>
          <a:p>
            <a:pPr algn="ctr"/>
            <a:r>
              <a:rPr sz="1200" b="0" i="0">
                <a:solidFill>
                  <a:srgbClr val="5C6E76"/>
                </a:solidFill>
                <a:latin typeface="Calibri"/>
              </a:rPr>
              <a:t>reuse past work</a:t>
            </a:r>
          </a:p>
        </p:txBody>
      </p:sp>
      <p:cxnSp>
        <p:nvCxnSpPr>
          <p:cNvPr id="6" name="Connector 5"/>
          <p:cNvCxnSpPr/>
          <p:nvPr/>
        </p:nvCxnSpPr>
        <p:spPr>
          <a:xfrm>
            <a:off x="2176272" y="2628900"/>
            <a:ext cx="237744" cy="0"/>
          </a:xfrm>
          <a:prstGeom prst="line">
            <a:avLst/>
          </a:prstGeom>
          <a:ln w="19050">
            <a:solidFill>
              <a:srgbClr val="0F2E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441448" y="2148840"/>
            <a:ext cx="1600200" cy="960120"/>
          </a:xfrm>
          <a:prstGeom prst="roundRect">
            <a:avLst>
              <a:gd name="adj" fmla="val 11428"/>
            </a:avLst>
          </a:prstGeom>
          <a:solidFill>
            <a:srgbClr val="FFFFFF"/>
          </a:solidFill>
          <a:ln w="15875">
            <a:solidFill>
              <a:srgbClr val="0F2E3D"/>
            </a:solidFill>
          </a:ln>
        </p:spPr>
        <p:txBody>
          <a:bodyPr rtlCol="0" anchor="ctr"/>
          <a:lstStyle/>
          <a:p/>
        </p:txBody>
      </p:sp>
      <p:sp>
        <p:nvSpPr>
          <p:cNvPr id="8" name="TextBox 7"/>
          <p:cNvSpPr txBox="1"/>
          <p:nvPr/>
        </p:nvSpPr>
        <p:spPr>
          <a:xfrm>
            <a:off x="2551176" y="2258568"/>
            <a:ext cx="1380744" cy="292608"/>
          </a:xfrm>
          <a:prstGeom prst="rect">
            <a:avLst/>
          </a:prstGeom>
          <a:noFill/>
        </p:spPr>
        <p:txBody>
          <a:bodyPr wrap="square" lIns="0" rIns="0" tIns="0" bIns="0" anchor="t">
            <a:spAutoFit/>
          </a:bodyPr>
          <a:lstStyle/>
          <a:p>
            <a:pPr algn="ctr"/>
            <a:r>
              <a:rPr sz="1500" b="1" i="0">
                <a:solidFill>
                  <a:srgbClr val="0F2E3D"/>
                </a:solidFill>
                <a:latin typeface="Calibri"/>
              </a:rPr>
              <a:t>Write code</a:t>
            </a:r>
          </a:p>
        </p:txBody>
      </p:sp>
      <p:sp>
        <p:nvSpPr>
          <p:cNvPr id="9" name="TextBox 8"/>
          <p:cNvSpPr txBox="1"/>
          <p:nvPr/>
        </p:nvSpPr>
        <p:spPr>
          <a:xfrm>
            <a:off x="2551176" y="2578608"/>
            <a:ext cx="1380744" cy="457200"/>
          </a:xfrm>
          <a:prstGeom prst="rect">
            <a:avLst/>
          </a:prstGeom>
          <a:noFill/>
        </p:spPr>
        <p:txBody>
          <a:bodyPr wrap="square" lIns="0" rIns="0" tIns="0" bIns="0" anchor="t">
            <a:spAutoFit/>
          </a:bodyPr>
          <a:lstStyle/>
          <a:p>
            <a:pPr algn="ctr"/>
            <a:r>
              <a:rPr sz="1200" b="0" i="0">
                <a:solidFill>
                  <a:srgbClr val="5C6E76"/>
                </a:solidFill>
                <a:latin typeface="Calibri"/>
              </a:rPr>
              <a:t>via the model</a:t>
            </a:r>
          </a:p>
        </p:txBody>
      </p:sp>
      <p:cxnSp>
        <p:nvCxnSpPr>
          <p:cNvPr id="10" name="Connector 9"/>
          <p:cNvCxnSpPr/>
          <p:nvPr/>
        </p:nvCxnSpPr>
        <p:spPr>
          <a:xfrm>
            <a:off x="4069080" y="2628900"/>
            <a:ext cx="237744" cy="0"/>
          </a:xfrm>
          <a:prstGeom prst="line">
            <a:avLst/>
          </a:prstGeom>
          <a:ln w="19050">
            <a:solidFill>
              <a:srgbClr val="0F2E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334255" y="2148840"/>
            <a:ext cx="1600200" cy="960120"/>
          </a:xfrm>
          <a:prstGeom prst="roundRect">
            <a:avLst>
              <a:gd name="adj" fmla="val 11428"/>
            </a:avLst>
          </a:prstGeom>
          <a:solidFill>
            <a:srgbClr val="FFFFFF"/>
          </a:solidFill>
          <a:ln w="15875">
            <a:solidFill>
              <a:srgbClr val="0F2E3D"/>
            </a:solidFill>
          </a:ln>
        </p:spPr>
        <p:txBody>
          <a:bodyPr rtlCol="0" anchor="ctr"/>
          <a:lstStyle/>
          <a:p/>
        </p:txBody>
      </p:sp>
      <p:sp>
        <p:nvSpPr>
          <p:cNvPr id="12" name="TextBox 11"/>
          <p:cNvSpPr txBox="1"/>
          <p:nvPr/>
        </p:nvSpPr>
        <p:spPr>
          <a:xfrm>
            <a:off x="4443983" y="2258568"/>
            <a:ext cx="1380744" cy="292608"/>
          </a:xfrm>
          <a:prstGeom prst="rect">
            <a:avLst/>
          </a:prstGeom>
          <a:noFill/>
        </p:spPr>
        <p:txBody>
          <a:bodyPr wrap="square" lIns="0" rIns="0" tIns="0" bIns="0" anchor="t">
            <a:spAutoFit/>
          </a:bodyPr>
          <a:lstStyle/>
          <a:p>
            <a:pPr algn="ctr"/>
            <a:r>
              <a:rPr sz="1500" b="1" i="0">
                <a:solidFill>
                  <a:srgbClr val="0F2E3D"/>
                </a:solidFill>
                <a:latin typeface="Calibri"/>
              </a:rPr>
              <a:t>Static check</a:t>
            </a:r>
          </a:p>
        </p:txBody>
      </p:sp>
      <p:sp>
        <p:nvSpPr>
          <p:cNvPr id="13" name="TextBox 12"/>
          <p:cNvSpPr txBox="1"/>
          <p:nvPr/>
        </p:nvSpPr>
        <p:spPr>
          <a:xfrm>
            <a:off x="4443983" y="2578608"/>
            <a:ext cx="1380744" cy="457200"/>
          </a:xfrm>
          <a:prstGeom prst="rect">
            <a:avLst/>
          </a:prstGeom>
          <a:noFill/>
        </p:spPr>
        <p:txBody>
          <a:bodyPr wrap="square" lIns="0" rIns="0" tIns="0" bIns="0" anchor="t">
            <a:spAutoFit/>
          </a:bodyPr>
          <a:lstStyle/>
          <a:p>
            <a:pPr algn="ctr"/>
            <a:r>
              <a:rPr sz="1200" b="0" i="0">
                <a:solidFill>
                  <a:srgbClr val="5C6E76"/>
                </a:solidFill>
                <a:latin typeface="Calibri"/>
              </a:rPr>
              <a:t>block unsafe code</a:t>
            </a:r>
          </a:p>
        </p:txBody>
      </p:sp>
      <p:cxnSp>
        <p:nvCxnSpPr>
          <p:cNvPr id="14" name="Connector 13"/>
          <p:cNvCxnSpPr/>
          <p:nvPr/>
        </p:nvCxnSpPr>
        <p:spPr>
          <a:xfrm>
            <a:off x="5961888" y="2628900"/>
            <a:ext cx="237743" cy="0"/>
          </a:xfrm>
          <a:prstGeom prst="line">
            <a:avLst/>
          </a:prstGeom>
          <a:ln w="19050">
            <a:solidFill>
              <a:srgbClr val="0F2E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227063" y="2148840"/>
            <a:ext cx="1600200" cy="960120"/>
          </a:xfrm>
          <a:prstGeom prst="roundRect">
            <a:avLst>
              <a:gd name="adj" fmla="val 11428"/>
            </a:avLst>
          </a:prstGeom>
          <a:solidFill>
            <a:srgbClr val="0F2E3D"/>
          </a:solidFill>
          <a:ln w="15875">
            <a:solidFill>
              <a:srgbClr val="0F2E3D"/>
            </a:solidFill>
          </a:ln>
        </p:spPr>
        <p:txBody>
          <a:bodyPr rtlCol="0" anchor="ctr"/>
          <a:lstStyle/>
          <a:p/>
        </p:txBody>
      </p:sp>
      <p:sp>
        <p:nvSpPr>
          <p:cNvPr id="16" name="TextBox 15"/>
          <p:cNvSpPr txBox="1"/>
          <p:nvPr/>
        </p:nvSpPr>
        <p:spPr>
          <a:xfrm>
            <a:off x="6336791" y="2258568"/>
            <a:ext cx="1380744" cy="292608"/>
          </a:xfrm>
          <a:prstGeom prst="rect">
            <a:avLst/>
          </a:prstGeom>
          <a:noFill/>
        </p:spPr>
        <p:txBody>
          <a:bodyPr wrap="square" lIns="0" rIns="0" tIns="0" bIns="0" anchor="t">
            <a:spAutoFit/>
          </a:bodyPr>
          <a:lstStyle/>
          <a:p>
            <a:pPr algn="ctr"/>
            <a:r>
              <a:rPr sz="1500" b="1" i="0">
                <a:solidFill>
                  <a:srgbClr val="FFFFFF"/>
                </a:solidFill>
                <a:latin typeface="Calibri"/>
              </a:rPr>
              <a:t>Sandbox</a:t>
            </a:r>
          </a:p>
        </p:txBody>
      </p:sp>
      <p:sp>
        <p:nvSpPr>
          <p:cNvPr id="17" name="TextBox 16"/>
          <p:cNvSpPr txBox="1"/>
          <p:nvPr/>
        </p:nvSpPr>
        <p:spPr>
          <a:xfrm>
            <a:off x="6336791" y="2578608"/>
            <a:ext cx="1380744" cy="457200"/>
          </a:xfrm>
          <a:prstGeom prst="rect">
            <a:avLst/>
          </a:prstGeom>
          <a:noFill/>
        </p:spPr>
        <p:txBody>
          <a:bodyPr wrap="square" lIns="0" rIns="0" tIns="0" bIns="0" anchor="t">
            <a:spAutoFit/>
          </a:bodyPr>
          <a:lstStyle/>
          <a:p>
            <a:pPr algn="ctr"/>
            <a:r>
              <a:rPr sz="1200" b="0" i="0">
                <a:solidFill>
                  <a:srgbClr val="BFD6DA"/>
                </a:solidFill>
                <a:latin typeface="Calibri"/>
              </a:rPr>
              <a:t>run on real data</a:t>
            </a:r>
          </a:p>
        </p:txBody>
      </p:sp>
      <p:cxnSp>
        <p:nvCxnSpPr>
          <p:cNvPr id="18" name="Connector 17"/>
          <p:cNvCxnSpPr/>
          <p:nvPr/>
        </p:nvCxnSpPr>
        <p:spPr>
          <a:xfrm>
            <a:off x="6787133" y="3136392"/>
            <a:ext cx="0" cy="475488"/>
          </a:xfrm>
          <a:prstGeom prst="line">
            <a:avLst/>
          </a:prstGeom>
          <a:ln w="25400">
            <a:solidFill>
              <a:srgbClr val="E39B2D"/>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3241548" y="3611880"/>
            <a:ext cx="3545585" cy="0"/>
          </a:xfrm>
          <a:prstGeom prst="line">
            <a:avLst/>
          </a:prstGeom>
          <a:ln w="25400">
            <a:solidFill>
              <a:srgbClr val="E39B2D"/>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241548" y="3145536"/>
            <a:ext cx="0" cy="466344"/>
          </a:xfrm>
          <a:prstGeom prst="line">
            <a:avLst/>
          </a:prstGeom>
          <a:ln w="25400">
            <a:solidFill>
              <a:srgbClr val="E39B2D"/>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378708" y="3675888"/>
            <a:ext cx="3657600" cy="320040"/>
          </a:xfrm>
          <a:prstGeom prst="rect">
            <a:avLst/>
          </a:prstGeom>
          <a:noFill/>
        </p:spPr>
        <p:txBody>
          <a:bodyPr wrap="square" lIns="0" rIns="0" tIns="0" bIns="0" anchor="t">
            <a:spAutoFit/>
          </a:bodyPr>
          <a:lstStyle/>
          <a:p>
            <a:pPr algn="l"/>
            <a:r>
              <a:rPr sz="1300" b="0" i="1">
                <a:solidFill>
                  <a:srgbClr val="1A2B33"/>
                </a:solidFill>
                <a:latin typeface="Calibri"/>
              </a:rPr>
              <a:t>Code fails: retry with the error message</a:t>
            </a:r>
          </a:p>
        </p:txBody>
      </p:sp>
      <p:cxnSp>
        <p:nvCxnSpPr>
          <p:cNvPr id="22" name="Connector 21"/>
          <p:cNvCxnSpPr/>
          <p:nvPr/>
        </p:nvCxnSpPr>
        <p:spPr>
          <a:xfrm>
            <a:off x="7347203" y="3136392"/>
            <a:ext cx="0" cy="1207008"/>
          </a:xfrm>
          <a:prstGeom prst="line">
            <a:avLst/>
          </a:prstGeom>
          <a:ln w="25400">
            <a:solidFill>
              <a:srgbClr val="1F6F7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1348740" y="4343400"/>
            <a:ext cx="5998463" cy="0"/>
          </a:xfrm>
          <a:prstGeom prst="line">
            <a:avLst/>
          </a:prstGeom>
          <a:ln w="25400">
            <a:solidFill>
              <a:srgbClr val="1F6F78"/>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348740" y="4343400"/>
            <a:ext cx="0" cy="320040"/>
          </a:xfrm>
          <a:prstGeom prst="line">
            <a:avLst/>
          </a:prstGeom>
          <a:ln w="25400">
            <a:solidFill>
              <a:srgbClr val="1F6F78"/>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48640" y="4700016"/>
            <a:ext cx="3017520" cy="777240"/>
          </a:xfrm>
          <a:prstGeom prst="roundRect">
            <a:avLst>
              <a:gd name="adj" fmla="val 12000"/>
            </a:avLst>
          </a:prstGeom>
          <a:solidFill>
            <a:srgbClr val="E8F0F1"/>
          </a:solidFill>
          <a:ln>
            <a:noFill/>
          </a:ln>
        </p:spPr>
        <p:txBody>
          <a:bodyPr rtlCol="0" anchor="ctr"/>
          <a:lstStyle/>
          <a:p/>
        </p:txBody>
      </p:sp>
      <p:sp>
        <p:nvSpPr>
          <p:cNvPr id="26" name="TextBox 25"/>
          <p:cNvSpPr txBox="1"/>
          <p:nvPr/>
        </p:nvSpPr>
        <p:spPr>
          <a:xfrm>
            <a:off x="777240" y="4700016"/>
            <a:ext cx="2651760" cy="777240"/>
          </a:xfrm>
          <a:prstGeom prst="rect">
            <a:avLst/>
          </a:prstGeom>
          <a:noFill/>
        </p:spPr>
        <p:txBody>
          <a:bodyPr wrap="square" lIns="0" rIns="0" tIns="0" bIns="0" anchor="ctr">
            <a:spAutoFit/>
          </a:bodyPr>
          <a:lstStyle/>
          <a:p>
            <a:pPr algn="l"/>
            <a:r>
              <a:rPr sz="1500" b="1" i="0">
                <a:solidFill>
                  <a:srgbClr val="0F2E3D"/>
                </a:solidFill>
                <a:latin typeface="Calibri"/>
              </a:rPr>
              <a:t>Back to the Planner</a:t>
            </a:r>
          </a:p>
        </p:txBody>
      </p:sp>
      <p:sp>
        <p:nvSpPr>
          <p:cNvPr id="27" name="TextBox 26"/>
          <p:cNvSpPr txBox="1"/>
          <p:nvPr/>
        </p:nvSpPr>
        <p:spPr>
          <a:xfrm>
            <a:off x="1485900" y="4023360"/>
            <a:ext cx="4206240" cy="320040"/>
          </a:xfrm>
          <a:prstGeom prst="rect">
            <a:avLst/>
          </a:prstGeom>
          <a:noFill/>
        </p:spPr>
        <p:txBody>
          <a:bodyPr wrap="square" lIns="0" rIns="0" tIns="0" bIns="0" anchor="t">
            <a:spAutoFit/>
          </a:bodyPr>
          <a:lstStyle/>
          <a:p>
            <a:pPr algn="l"/>
            <a:r>
              <a:rPr sz="1300" b="0" i="1">
                <a:solidFill>
                  <a:srgbClr val="1A2B33"/>
                </a:solidFill>
                <a:latin typeface="Calibri"/>
              </a:rPr>
              <a:t>Result shows a wrong assumption: re-plan</a:t>
            </a:r>
          </a:p>
        </p:txBody>
      </p:sp>
      <p:sp>
        <p:nvSpPr>
          <p:cNvPr id="28" name="TextBox 27"/>
          <p:cNvSpPr txBox="1"/>
          <p:nvPr/>
        </p:nvSpPr>
        <p:spPr>
          <a:xfrm>
            <a:off x="548640" y="1508760"/>
            <a:ext cx="6949440" cy="365760"/>
          </a:xfrm>
          <a:prstGeom prst="rect">
            <a:avLst/>
          </a:prstGeom>
          <a:noFill/>
        </p:spPr>
        <p:txBody>
          <a:bodyPr wrap="square" lIns="0" rIns="0" tIns="0" bIns="0" anchor="t">
            <a:spAutoFit/>
          </a:bodyPr>
          <a:lstStyle/>
          <a:p>
            <a:pPr algn="l"/>
            <a:r>
              <a:rPr sz="1500" b="0" i="0">
                <a:solidFill>
                  <a:srgbClr val="5C6E76"/>
                </a:solidFill>
                <a:latin typeface="Calibri"/>
              </a:rPr>
              <a:t>Every step of every plan goes through this loop.</a:t>
            </a:r>
          </a:p>
        </p:txBody>
      </p:sp>
      <p:sp>
        <p:nvSpPr>
          <p:cNvPr id="29" name="TextBox 28"/>
          <p:cNvSpPr txBox="1"/>
          <p:nvPr/>
        </p:nvSpPr>
        <p:spPr>
          <a:xfrm>
            <a:off x="8138160" y="1554480"/>
            <a:ext cx="1097280" cy="1097280"/>
          </a:xfrm>
          <a:prstGeom prst="rect">
            <a:avLst/>
          </a:prstGeom>
          <a:noFill/>
        </p:spPr>
        <p:txBody>
          <a:bodyPr wrap="square" lIns="0" rIns="0" tIns="0" bIns="0" anchor="ctr">
            <a:spAutoFit/>
          </a:bodyPr>
          <a:lstStyle/>
          <a:p>
            <a:pPr algn="l"/>
            <a:r>
              <a:rPr sz="6000" b="1" i="0">
                <a:solidFill>
                  <a:srgbClr val="E39B2D"/>
                </a:solidFill>
                <a:latin typeface="Cambria"/>
              </a:rPr>
              <a:t>3</a:t>
            </a:r>
          </a:p>
        </p:txBody>
      </p:sp>
      <p:sp>
        <p:nvSpPr>
          <p:cNvPr id="30" name="TextBox 29"/>
          <p:cNvSpPr txBox="1"/>
          <p:nvPr/>
        </p:nvSpPr>
        <p:spPr>
          <a:xfrm>
            <a:off x="9326880" y="1554480"/>
            <a:ext cx="2316175" cy="1097280"/>
          </a:xfrm>
          <a:prstGeom prst="rect">
            <a:avLst/>
          </a:prstGeom>
          <a:noFill/>
        </p:spPr>
        <p:txBody>
          <a:bodyPr wrap="square" lIns="0" rIns="0" tIns="0" bIns="0" anchor="ctr">
            <a:spAutoFit/>
          </a:bodyPr>
          <a:lstStyle/>
          <a:p>
            <a:pPr algn="l"/>
            <a:r>
              <a:rPr sz="1500" b="0" i="0">
                <a:solidFill>
                  <a:srgbClr val="1A2B33"/>
                </a:solidFill>
                <a:latin typeface="Calibri"/>
              </a:rPr>
              <a:t>retries per step, each one shown the previous error</a:t>
            </a:r>
          </a:p>
        </p:txBody>
      </p:sp>
      <p:sp>
        <p:nvSpPr>
          <p:cNvPr id="31" name="TextBox 30"/>
          <p:cNvSpPr txBox="1"/>
          <p:nvPr/>
        </p:nvSpPr>
        <p:spPr>
          <a:xfrm>
            <a:off x="8138160" y="3063239"/>
            <a:ext cx="1097280" cy="1097280"/>
          </a:xfrm>
          <a:prstGeom prst="rect">
            <a:avLst/>
          </a:prstGeom>
          <a:noFill/>
        </p:spPr>
        <p:txBody>
          <a:bodyPr wrap="square" lIns="0" rIns="0" tIns="0" bIns="0" anchor="ctr">
            <a:spAutoFit/>
          </a:bodyPr>
          <a:lstStyle/>
          <a:p>
            <a:pPr algn="l"/>
            <a:r>
              <a:rPr sz="6000" b="1" i="0">
                <a:solidFill>
                  <a:srgbClr val="E39B2D"/>
                </a:solidFill>
                <a:latin typeface="Cambria"/>
              </a:rPr>
              <a:t>2</a:t>
            </a:r>
          </a:p>
        </p:txBody>
      </p:sp>
      <p:sp>
        <p:nvSpPr>
          <p:cNvPr id="32" name="TextBox 31"/>
          <p:cNvSpPr txBox="1"/>
          <p:nvPr/>
        </p:nvSpPr>
        <p:spPr>
          <a:xfrm>
            <a:off x="9326880" y="3063239"/>
            <a:ext cx="2316175" cy="1097280"/>
          </a:xfrm>
          <a:prstGeom prst="rect">
            <a:avLst/>
          </a:prstGeom>
          <a:noFill/>
        </p:spPr>
        <p:txBody>
          <a:bodyPr wrap="square" lIns="0" rIns="0" tIns="0" bIns="0" anchor="ctr">
            <a:spAutoFit/>
          </a:bodyPr>
          <a:lstStyle/>
          <a:p>
            <a:pPr algn="l"/>
            <a:r>
              <a:rPr sz="1500" b="0" i="0">
                <a:solidFill>
                  <a:srgbClr val="1A2B33"/>
                </a:solidFill>
                <a:latin typeface="Calibri"/>
              </a:rPr>
              <a:t>re-plans per question when a result breaks the plan</a:t>
            </a:r>
          </a:p>
        </p:txBody>
      </p:sp>
      <p:sp>
        <p:nvSpPr>
          <p:cNvPr id="33" name="TextBox 32"/>
          <p:cNvSpPr txBox="1"/>
          <p:nvPr/>
        </p:nvSpPr>
        <p:spPr>
          <a:xfrm>
            <a:off x="8138160" y="4572000"/>
            <a:ext cx="1097280" cy="1097280"/>
          </a:xfrm>
          <a:prstGeom prst="rect">
            <a:avLst/>
          </a:prstGeom>
          <a:noFill/>
        </p:spPr>
        <p:txBody>
          <a:bodyPr wrap="square" lIns="0" rIns="0" tIns="0" bIns="0" anchor="ctr">
            <a:spAutoFit/>
          </a:bodyPr>
          <a:lstStyle/>
          <a:p>
            <a:pPr algn="l"/>
            <a:r>
              <a:rPr sz="6000" b="1" i="0">
                <a:solidFill>
                  <a:srgbClr val="E39B2D"/>
                </a:solidFill>
                <a:latin typeface="Cambria"/>
              </a:rPr>
              <a:t>N</a:t>
            </a:r>
          </a:p>
        </p:txBody>
      </p:sp>
      <p:sp>
        <p:nvSpPr>
          <p:cNvPr id="34" name="TextBox 33"/>
          <p:cNvSpPr txBox="1"/>
          <p:nvPr/>
        </p:nvSpPr>
        <p:spPr>
          <a:xfrm>
            <a:off x="9326880" y="4572000"/>
            <a:ext cx="2316175" cy="1097280"/>
          </a:xfrm>
          <a:prstGeom prst="rect">
            <a:avLst/>
          </a:prstGeom>
          <a:noFill/>
        </p:spPr>
        <p:txBody>
          <a:bodyPr wrap="square" lIns="0" rIns="0" tIns="0" bIns="0" anchor="ctr">
            <a:spAutoFit/>
          </a:bodyPr>
          <a:lstStyle/>
          <a:p>
            <a:pPr algn="l"/>
            <a:r>
              <a:rPr sz="1500" b="0" i="0">
                <a:solidFill>
                  <a:srgbClr val="1A2B33"/>
                </a:solidFill>
                <a:latin typeface="Calibri"/>
              </a:rPr>
              <a:t>competing interpretations run in parallel, each in its own sandbox</a:t>
            </a:r>
          </a:p>
        </p:txBody>
      </p:sp>
      <p:sp>
        <p:nvSpPr>
          <p:cNvPr id="35" name="Footer"/>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5C6E76"/>
                </a:solidFill>
                <a:latin typeface="Calibri"/>
              </a:rPr>
              <a:t>Capstone · Autonomous Data-Analysis Agent</a:t>
            </a:r>
          </a:p>
        </p:txBody>
      </p:sp>
      <p:sp>
        <p:nvSpPr>
          <p:cNvPr id="36" name="Slide number"/>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5C6E7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94415" cy="777240"/>
          </a:xfrm>
          <a:prstGeom prst="rect">
            <a:avLst/>
          </a:prstGeom>
          <a:noFill/>
        </p:spPr>
        <p:txBody>
          <a:bodyPr wrap="square" lIns="0" rIns="0" tIns="0" bIns="0" anchor="ctr">
            <a:spAutoFit/>
          </a:bodyPr>
          <a:lstStyle/>
          <a:p>
            <a:pPr algn="l"/>
            <a:r>
              <a:rPr sz="3400" b="1" i="0">
                <a:solidFill>
                  <a:srgbClr val="0F2E3D"/>
                </a:solidFill>
                <a:latin typeface="Cambria"/>
              </a:rPr>
              <a:t>Private data is masked, and code runs sandboxed</a:t>
            </a:r>
          </a:p>
        </p:txBody>
      </p:sp>
      <p:sp>
        <p:nvSpPr>
          <p:cNvPr id="3" name="TextBox 2"/>
          <p:cNvSpPr txBox="1"/>
          <p:nvPr/>
        </p:nvSpPr>
        <p:spPr>
          <a:xfrm>
            <a:off x="548640" y="1508760"/>
            <a:ext cx="5486400" cy="320040"/>
          </a:xfrm>
          <a:prstGeom prst="rect">
            <a:avLst/>
          </a:prstGeom>
          <a:noFill/>
        </p:spPr>
        <p:txBody>
          <a:bodyPr wrap="square" lIns="0" rIns="0" tIns="0" bIns="0" anchor="t">
            <a:spAutoFit/>
          </a:bodyPr>
          <a:lstStyle/>
          <a:p>
            <a:pPr algn="l"/>
            <a:r>
              <a:rPr sz="1200" b="1" i="0" spc="200">
                <a:solidFill>
                  <a:srgbClr val="5C6E76"/>
                </a:solidFill>
                <a:latin typeface="Calibri"/>
              </a:rPr>
              <a:t>WHAT THE MODEL SEES</a:t>
            </a:r>
          </a:p>
        </p:txBody>
      </p:sp>
      <p:sp>
        <p:nvSpPr>
          <p:cNvPr id="4" name="Rectangle 3"/>
          <p:cNvSpPr/>
          <p:nvPr/>
        </p:nvSpPr>
        <p:spPr>
          <a:xfrm>
            <a:off x="548640" y="1920240"/>
            <a:ext cx="1143000" cy="566928"/>
          </a:xfrm>
          <a:prstGeom prst="rect">
            <a:avLst/>
          </a:prstGeom>
          <a:solidFill>
            <a:srgbClr val="0F2E3D"/>
          </a:solidFill>
          <a:ln>
            <a:noFill/>
          </a:ln>
        </p:spPr>
        <p:txBody>
          <a:bodyPr rtlCol="0" anchor="ctr"/>
          <a:lstStyle/>
          <a:p/>
        </p:txBody>
      </p:sp>
      <p:sp>
        <p:nvSpPr>
          <p:cNvPr id="5" name="TextBox 4"/>
          <p:cNvSpPr txBox="1"/>
          <p:nvPr/>
        </p:nvSpPr>
        <p:spPr>
          <a:xfrm>
            <a:off x="685800" y="1920240"/>
            <a:ext cx="914400" cy="566928"/>
          </a:xfrm>
          <a:prstGeom prst="rect">
            <a:avLst/>
          </a:prstGeom>
          <a:noFill/>
        </p:spPr>
        <p:txBody>
          <a:bodyPr wrap="square" lIns="0" rIns="0" tIns="0" bIns="0" anchor="ctr">
            <a:spAutoFit/>
          </a:bodyPr>
          <a:lstStyle/>
          <a:p>
            <a:pPr algn="l"/>
            <a:r>
              <a:rPr sz="1400" b="1" i="0">
                <a:solidFill>
                  <a:srgbClr val="FFFFFF"/>
                </a:solidFill>
                <a:latin typeface="Calibri"/>
              </a:rPr>
              <a:t>Column</a:t>
            </a:r>
          </a:p>
        </p:txBody>
      </p:sp>
      <p:sp>
        <p:nvSpPr>
          <p:cNvPr id="6" name="Rectangle 5"/>
          <p:cNvSpPr/>
          <p:nvPr/>
        </p:nvSpPr>
        <p:spPr>
          <a:xfrm>
            <a:off x="1737360" y="1920240"/>
            <a:ext cx="2651760" cy="566928"/>
          </a:xfrm>
          <a:prstGeom prst="rect">
            <a:avLst/>
          </a:prstGeom>
          <a:solidFill>
            <a:srgbClr val="0F2E3D"/>
          </a:solidFill>
          <a:ln>
            <a:noFill/>
          </a:ln>
        </p:spPr>
        <p:txBody>
          <a:bodyPr rtlCol="0" anchor="ctr"/>
          <a:lstStyle/>
          <a:p/>
        </p:txBody>
      </p:sp>
      <p:sp>
        <p:nvSpPr>
          <p:cNvPr id="7" name="TextBox 6"/>
          <p:cNvSpPr txBox="1"/>
          <p:nvPr/>
        </p:nvSpPr>
        <p:spPr>
          <a:xfrm>
            <a:off x="1874519" y="1920240"/>
            <a:ext cx="2423160" cy="566928"/>
          </a:xfrm>
          <a:prstGeom prst="rect">
            <a:avLst/>
          </a:prstGeom>
          <a:noFill/>
        </p:spPr>
        <p:txBody>
          <a:bodyPr wrap="square" lIns="0" rIns="0" tIns="0" bIns="0" anchor="ctr">
            <a:spAutoFit/>
          </a:bodyPr>
          <a:lstStyle/>
          <a:p>
            <a:pPr algn="l"/>
            <a:r>
              <a:rPr sz="1400" b="1" i="0">
                <a:solidFill>
                  <a:srgbClr val="FFFFFF"/>
                </a:solidFill>
                <a:latin typeface="Calibri"/>
              </a:rPr>
              <a:t>Real value</a:t>
            </a:r>
          </a:p>
        </p:txBody>
      </p:sp>
      <p:sp>
        <p:nvSpPr>
          <p:cNvPr id="8" name="Rectangle 7"/>
          <p:cNvSpPr/>
          <p:nvPr/>
        </p:nvSpPr>
        <p:spPr>
          <a:xfrm>
            <a:off x="4434840" y="1920240"/>
            <a:ext cx="1737360" cy="566928"/>
          </a:xfrm>
          <a:prstGeom prst="rect">
            <a:avLst/>
          </a:prstGeom>
          <a:solidFill>
            <a:srgbClr val="0F2E3D"/>
          </a:solidFill>
          <a:ln>
            <a:noFill/>
          </a:ln>
        </p:spPr>
        <p:txBody>
          <a:bodyPr rtlCol="0" anchor="ctr"/>
          <a:lstStyle/>
          <a:p/>
        </p:txBody>
      </p:sp>
      <p:sp>
        <p:nvSpPr>
          <p:cNvPr id="9" name="TextBox 8"/>
          <p:cNvSpPr txBox="1"/>
          <p:nvPr/>
        </p:nvSpPr>
        <p:spPr>
          <a:xfrm>
            <a:off x="4572000" y="1920240"/>
            <a:ext cx="1508760" cy="566928"/>
          </a:xfrm>
          <a:prstGeom prst="rect">
            <a:avLst/>
          </a:prstGeom>
          <a:noFill/>
        </p:spPr>
        <p:txBody>
          <a:bodyPr wrap="square" lIns="0" rIns="0" tIns="0" bIns="0" anchor="ctr">
            <a:spAutoFit/>
          </a:bodyPr>
          <a:lstStyle/>
          <a:p>
            <a:pPr algn="l"/>
            <a:r>
              <a:rPr sz="1400" b="1" i="0">
                <a:solidFill>
                  <a:srgbClr val="FFFFFF"/>
                </a:solidFill>
                <a:latin typeface="Calibri"/>
              </a:rPr>
              <a:t>Sent to the model</a:t>
            </a:r>
          </a:p>
        </p:txBody>
      </p:sp>
      <p:sp>
        <p:nvSpPr>
          <p:cNvPr id="10" name="Rectangle 9"/>
          <p:cNvSpPr/>
          <p:nvPr/>
        </p:nvSpPr>
        <p:spPr>
          <a:xfrm>
            <a:off x="548640" y="2532888"/>
            <a:ext cx="1143000" cy="566928"/>
          </a:xfrm>
          <a:prstGeom prst="rect">
            <a:avLst/>
          </a:prstGeom>
          <a:solidFill>
            <a:srgbClr val="E8F0F1"/>
          </a:solidFill>
          <a:ln>
            <a:noFill/>
          </a:ln>
        </p:spPr>
        <p:txBody>
          <a:bodyPr rtlCol="0" anchor="ctr"/>
          <a:lstStyle/>
          <a:p/>
        </p:txBody>
      </p:sp>
      <p:sp>
        <p:nvSpPr>
          <p:cNvPr id="11" name="TextBox 10"/>
          <p:cNvSpPr txBox="1"/>
          <p:nvPr/>
        </p:nvSpPr>
        <p:spPr>
          <a:xfrm>
            <a:off x="685800" y="2532888"/>
            <a:ext cx="914400" cy="566928"/>
          </a:xfrm>
          <a:prstGeom prst="rect">
            <a:avLst/>
          </a:prstGeom>
          <a:noFill/>
        </p:spPr>
        <p:txBody>
          <a:bodyPr wrap="square" lIns="0" rIns="0" tIns="0" bIns="0" anchor="ctr">
            <a:spAutoFit/>
          </a:bodyPr>
          <a:lstStyle/>
          <a:p>
            <a:pPr algn="l"/>
            <a:r>
              <a:rPr sz="1400" b="0" i="0">
                <a:solidFill>
                  <a:srgbClr val="1A2B33"/>
                </a:solidFill>
                <a:latin typeface="Calibri"/>
              </a:rPr>
              <a:t>name</a:t>
            </a:r>
          </a:p>
        </p:txBody>
      </p:sp>
      <p:sp>
        <p:nvSpPr>
          <p:cNvPr id="12" name="Rectangle 11"/>
          <p:cNvSpPr/>
          <p:nvPr/>
        </p:nvSpPr>
        <p:spPr>
          <a:xfrm>
            <a:off x="1737360" y="2532888"/>
            <a:ext cx="2651760" cy="566928"/>
          </a:xfrm>
          <a:prstGeom prst="rect">
            <a:avLst/>
          </a:prstGeom>
          <a:solidFill>
            <a:srgbClr val="E8F0F1"/>
          </a:solidFill>
          <a:ln>
            <a:noFill/>
          </a:ln>
        </p:spPr>
        <p:txBody>
          <a:bodyPr rtlCol="0" anchor="ctr"/>
          <a:lstStyle/>
          <a:p/>
        </p:txBody>
      </p:sp>
      <p:sp>
        <p:nvSpPr>
          <p:cNvPr id="13" name="TextBox 12"/>
          <p:cNvSpPr txBox="1"/>
          <p:nvPr/>
        </p:nvSpPr>
        <p:spPr>
          <a:xfrm>
            <a:off x="1874519" y="2532888"/>
            <a:ext cx="2423160" cy="566928"/>
          </a:xfrm>
          <a:prstGeom prst="rect">
            <a:avLst/>
          </a:prstGeom>
          <a:noFill/>
        </p:spPr>
        <p:txBody>
          <a:bodyPr wrap="square" lIns="0" rIns="0" tIns="0" bIns="0" anchor="ctr">
            <a:spAutoFit/>
          </a:bodyPr>
          <a:lstStyle/>
          <a:p>
            <a:pPr algn="l"/>
            <a:r>
              <a:rPr sz="1250" b="0" i="0">
                <a:solidFill>
                  <a:srgbClr val="1A2B33"/>
                </a:solidFill>
                <a:latin typeface="Courier New"/>
              </a:rPr>
              <a:t>Alice Johnson</a:t>
            </a:r>
          </a:p>
        </p:txBody>
      </p:sp>
      <p:sp>
        <p:nvSpPr>
          <p:cNvPr id="14" name="Rectangle 13"/>
          <p:cNvSpPr/>
          <p:nvPr/>
        </p:nvSpPr>
        <p:spPr>
          <a:xfrm>
            <a:off x="4434840" y="2532888"/>
            <a:ext cx="1737360" cy="566928"/>
          </a:xfrm>
          <a:prstGeom prst="rect">
            <a:avLst/>
          </a:prstGeom>
          <a:solidFill>
            <a:srgbClr val="E8F0F1"/>
          </a:solidFill>
          <a:ln>
            <a:noFill/>
          </a:ln>
        </p:spPr>
        <p:txBody>
          <a:bodyPr rtlCol="0" anchor="ctr"/>
          <a:lstStyle/>
          <a:p/>
        </p:txBody>
      </p:sp>
      <p:sp>
        <p:nvSpPr>
          <p:cNvPr id="15" name="TextBox 14"/>
          <p:cNvSpPr txBox="1"/>
          <p:nvPr/>
        </p:nvSpPr>
        <p:spPr>
          <a:xfrm>
            <a:off x="4572000" y="2532888"/>
            <a:ext cx="1508760" cy="566928"/>
          </a:xfrm>
          <a:prstGeom prst="rect">
            <a:avLst/>
          </a:prstGeom>
          <a:noFill/>
        </p:spPr>
        <p:txBody>
          <a:bodyPr wrap="square" lIns="0" rIns="0" tIns="0" bIns="0" anchor="ctr">
            <a:spAutoFit/>
          </a:bodyPr>
          <a:lstStyle/>
          <a:p>
            <a:pPr algn="l"/>
            <a:r>
              <a:rPr sz="1250" b="1" i="0">
                <a:solidFill>
                  <a:srgbClr val="1F6F78"/>
                </a:solidFill>
                <a:latin typeface="Courier New"/>
              </a:rPr>
              <a:t>A***********n</a:t>
            </a:r>
          </a:p>
        </p:txBody>
      </p:sp>
      <p:sp>
        <p:nvSpPr>
          <p:cNvPr id="16" name="Rectangle 15"/>
          <p:cNvSpPr/>
          <p:nvPr/>
        </p:nvSpPr>
        <p:spPr>
          <a:xfrm>
            <a:off x="548640" y="3145536"/>
            <a:ext cx="1143000" cy="566928"/>
          </a:xfrm>
          <a:prstGeom prst="rect">
            <a:avLst/>
          </a:prstGeom>
          <a:solidFill>
            <a:srgbClr val="E8F0F1"/>
          </a:solidFill>
          <a:ln>
            <a:noFill/>
          </a:ln>
        </p:spPr>
        <p:txBody>
          <a:bodyPr rtlCol="0" anchor="ctr"/>
          <a:lstStyle/>
          <a:p/>
        </p:txBody>
      </p:sp>
      <p:sp>
        <p:nvSpPr>
          <p:cNvPr id="17" name="TextBox 16"/>
          <p:cNvSpPr txBox="1"/>
          <p:nvPr/>
        </p:nvSpPr>
        <p:spPr>
          <a:xfrm>
            <a:off x="685800" y="3145536"/>
            <a:ext cx="914400" cy="566928"/>
          </a:xfrm>
          <a:prstGeom prst="rect">
            <a:avLst/>
          </a:prstGeom>
          <a:noFill/>
        </p:spPr>
        <p:txBody>
          <a:bodyPr wrap="square" lIns="0" rIns="0" tIns="0" bIns="0" anchor="ctr">
            <a:spAutoFit/>
          </a:bodyPr>
          <a:lstStyle/>
          <a:p>
            <a:pPr algn="l"/>
            <a:r>
              <a:rPr sz="1400" b="0" i="0">
                <a:solidFill>
                  <a:srgbClr val="1A2B33"/>
                </a:solidFill>
                <a:latin typeface="Calibri"/>
              </a:rPr>
              <a:t>email</a:t>
            </a:r>
          </a:p>
        </p:txBody>
      </p:sp>
      <p:sp>
        <p:nvSpPr>
          <p:cNvPr id="18" name="Rectangle 17"/>
          <p:cNvSpPr/>
          <p:nvPr/>
        </p:nvSpPr>
        <p:spPr>
          <a:xfrm>
            <a:off x="1737360" y="3145536"/>
            <a:ext cx="2651760" cy="566928"/>
          </a:xfrm>
          <a:prstGeom prst="rect">
            <a:avLst/>
          </a:prstGeom>
          <a:solidFill>
            <a:srgbClr val="E8F0F1"/>
          </a:solidFill>
          <a:ln>
            <a:noFill/>
          </a:ln>
        </p:spPr>
        <p:txBody>
          <a:bodyPr rtlCol="0" anchor="ctr"/>
          <a:lstStyle/>
          <a:p/>
        </p:txBody>
      </p:sp>
      <p:sp>
        <p:nvSpPr>
          <p:cNvPr id="19" name="TextBox 18"/>
          <p:cNvSpPr txBox="1"/>
          <p:nvPr/>
        </p:nvSpPr>
        <p:spPr>
          <a:xfrm>
            <a:off x="1874519" y="3145536"/>
            <a:ext cx="2423160" cy="566928"/>
          </a:xfrm>
          <a:prstGeom prst="rect">
            <a:avLst/>
          </a:prstGeom>
          <a:noFill/>
        </p:spPr>
        <p:txBody>
          <a:bodyPr wrap="square" lIns="0" rIns="0" tIns="0" bIns="0" anchor="ctr">
            <a:spAutoFit/>
          </a:bodyPr>
          <a:lstStyle/>
          <a:p>
            <a:pPr algn="l"/>
            <a:r>
              <a:rPr sz="1250" b="0" i="0">
                <a:solidFill>
                  <a:srgbClr val="1A2B33"/>
                </a:solidFill>
                <a:latin typeface="Courier New"/>
              </a:rPr>
              <a:t>alice.johnson@example.com</a:t>
            </a:r>
          </a:p>
        </p:txBody>
      </p:sp>
      <p:sp>
        <p:nvSpPr>
          <p:cNvPr id="20" name="Rectangle 19"/>
          <p:cNvSpPr/>
          <p:nvPr/>
        </p:nvSpPr>
        <p:spPr>
          <a:xfrm>
            <a:off x="4434840" y="3145536"/>
            <a:ext cx="1737360" cy="566928"/>
          </a:xfrm>
          <a:prstGeom prst="rect">
            <a:avLst/>
          </a:prstGeom>
          <a:solidFill>
            <a:srgbClr val="E8F0F1"/>
          </a:solidFill>
          <a:ln>
            <a:noFill/>
          </a:ln>
        </p:spPr>
        <p:txBody>
          <a:bodyPr rtlCol="0" anchor="ctr"/>
          <a:lstStyle/>
          <a:p/>
        </p:txBody>
      </p:sp>
      <p:sp>
        <p:nvSpPr>
          <p:cNvPr id="21" name="TextBox 20"/>
          <p:cNvSpPr txBox="1"/>
          <p:nvPr/>
        </p:nvSpPr>
        <p:spPr>
          <a:xfrm>
            <a:off x="4572000" y="3145536"/>
            <a:ext cx="1508760" cy="566928"/>
          </a:xfrm>
          <a:prstGeom prst="rect">
            <a:avLst/>
          </a:prstGeom>
          <a:noFill/>
        </p:spPr>
        <p:txBody>
          <a:bodyPr wrap="square" lIns="0" rIns="0" tIns="0" bIns="0" anchor="ctr">
            <a:spAutoFit/>
          </a:bodyPr>
          <a:lstStyle/>
          <a:p>
            <a:pPr algn="l"/>
            <a:r>
              <a:rPr sz="1250" b="1" i="0">
                <a:solidFill>
                  <a:srgbClr val="1F6F78"/>
                </a:solidFill>
                <a:latin typeface="Courier New"/>
              </a:rPr>
              <a:t>a***…***m</a:t>
            </a:r>
          </a:p>
        </p:txBody>
      </p:sp>
      <p:sp>
        <p:nvSpPr>
          <p:cNvPr id="22" name="Rectangle 21"/>
          <p:cNvSpPr/>
          <p:nvPr/>
        </p:nvSpPr>
        <p:spPr>
          <a:xfrm>
            <a:off x="548640" y="3758184"/>
            <a:ext cx="1143000" cy="566928"/>
          </a:xfrm>
          <a:prstGeom prst="rect">
            <a:avLst/>
          </a:prstGeom>
          <a:solidFill>
            <a:srgbClr val="E8F0F1"/>
          </a:solidFill>
          <a:ln>
            <a:noFill/>
          </a:ln>
        </p:spPr>
        <p:txBody>
          <a:bodyPr rtlCol="0" anchor="ctr"/>
          <a:lstStyle/>
          <a:p/>
        </p:txBody>
      </p:sp>
      <p:sp>
        <p:nvSpPr>
          <p:cNvPr id="23" name="TextBox 22"/>
          <p:cNvSpPr txBox="1"/>
          <p:nvPr/>
        </p:nvSpPr>
        <p:spPr>
          <a:xfrm>
            <a:off x="685800" y="3758184"/>
            <a:ext cx="914400" cy="566928"/>
          </a:xfrm>
          <a:prstGeom prst="rect">
            <a:avLst/>
          </a:prstGeom>
          <a:noFill/>
        </p:spPr>
        <p:txBody>
          <a:bodyPr wrap="square" lIns="0" rIns="0" tIns="0" bIns="0" anchor="ctr">
            <a:spAutoFit/>
          </a:bodyPr>
          <a:lstStyle/>
          <a:p>
            <a:pPr algn="l"/>
            <a:r>
              <a:rPr sz="1400" b="0" i="0">
                <a:solidFill>
                  <a:srgbClr val="1A2B33"/>
                </a:solidFill>
                <a:latin typeface="Calibri"/>
              </a:rPr>
              <a:t>region</a:t>
            </a:r>
          </a:p>
        </p:txBody>
      </p:sp>
      <p:sp>
        <p:nvSpPr>
          <p:cNvPr id="24" name="Rectangle 23"/>
          <p:cNvSpPr/>
          <p:nvPr/>
        </p:nvSpPr>
        <p:spPr>
          <a:xfrm>
            <a:off x="1737360" y="3758184"/>
            <a:ext cx="2651760" cy="566928"/>
          </a:xfrm>
          <a:prstGeom prst="rect">
            <a:avLst/>
          </a:prstGeom>
          <a:solidFill>
            <a:srgbClr val="E8F0F1"/>
          </a:solidFill>
          <a:ln>
            <a:noFill/>
          </a:ln>
        </p:spPr>
        <p:txBody>
          <a:bodyPr rtlCol="0" anchor="ctr"/>
          <a:lstStyle/>
          <a:p/>
        </p:txBody>
      </p:sp>
      <p:sp>
        <p:nvSpPr>
          <p:cNvPr id="25" name="TextBox 24"/>
          <p:cNvSpPr txBox="1"/>
          <p:nvPr/>
        </p:nvSpPr>
        <p:spPr>
          <a:xfrm>
            <a:off x="1874519" y="3758184"/>
            <a:ext cx="2423160" cy="566928"/>
          </a:xfrm>
          <a:prstGeom prst="rect">
            <a:avLst/>
          </a:prstGeom>
          <a:noFill/>
        </p:spPr>
        <p:txBody>
          <a:bodyPr wrap="square" lIns="0" rIns="0" tIns="0" bIns="0" anchor="ctr">
            <a:spAutoFit/>
          </a:bodyPr>
          <a:lstStyle/>
          <a:p>
            <a:pPr algn="l"/>
            <a:r>
              <a:rPr sz="1250" b="0" i="0">
                <a:solidFill>
                  <a:srgbClr val="1A2B33"/>
                </a:solidFill>
                <a:latin typeface="Courier New"/>
              </a:rPr>
              <a:t>West</a:t>
            </a:r>
          </a:p>
        </p:txBody>
      </p:sp>
      <p:sp>
        <p:nvSpPr>
          <p:cNvPr id="26" name="Rectangle 25"/>
          <p:cNvSpPr/>
          <p:nvPr/>
        </p:nvSpPr>
        <p:spPr>
          <a:xfrm>
            <a:off x="4434840" y="3758184"/>
            <a:ext cx="1737360" cy="566928"/>
          </a:xfrm>
          <a:prstGeom prst="rect">
            <a:avLst/>
          </a:prstGeom>
          <a:solidFill>
            <a:srgbClr val="E8F0F1"/>
          </a:solidFill>
          <a:ln>
            <a:noFill/>
          </a:ln>
        </p:spPr>
        <p:txBody>
          <a:bodyPr rtlCol="0" anchor="ctr"/>
          <a:lstStyle/>
          <a:p/>
        </p:txBody>
      </p:sp>
      <p:sp>
        <p:nvSpPr>
          <p:cNvPr id="27" name="TextBox 26"/>
          <p:cNvSpPr txBox="1"/>
          <p:nvPr/>
        </p:nvSpPr>
        <p:spPr>
          <a:xfrm>
            <a:off x="4572000" y="3758184"/>
            <a:ext cx="1508760" cy="566928"/>
          </a:xfrm>
          <a:prstGeom prst="rect">
            <a:avLst/>
          </a:prstGeom>
          <a:noFill/>
        </p:spPr>
        <p:txBody>
          <a:bodyPr wrap="square" lIns="0" rIns="0" tIns="0" bIns="0" anchor="ctr">
            <a:spAutoFit/>
          </a:bodyPr>
          <a:lstStyle/>
          <a:p>
            <a:pPr algn="l"/>
            <a:r>
              <a:rPr sz="1250" b="0" i="0">
                <a:solidFill>
                  <a:srgbClr val="1A2B33"/>
                </a:solidFill>
                <a:latin typeface="Courier New"/>
              </a:rPr>
              <a:t>West</a:t>
            </a:r>
          </a:p>
        </p:txBody>
      </p:sp>
      <p:sp>
        <p:nvSpPr>
          <p:cNvPr id="28" name="TextBox 27"/>
          <p:cNvSpPr txBox="1"/>
          <p:nvPr/>
        </p:nvSpPr>
        <p:spPr>
          <a:xfrm>
            <a:off x="548640" y="4434840"/>
            <a:ext cx="5577840" cy="1463040"/>
          </a:xfrm>
          <a:prstGeom prst="rect">
            <a:avLst/>
          </a:prstGeom>
          <a:noFill/>
        </p:spPr>
        <p:txBody>
          <a:bodyPr wrap="square" lIns="0" rIns="0" tIns="0" bIns="0" anchor="t">
            <a:spAutoFit/>
          </a:bodyPr>
          <a:lstStyle/>
          <a:p>
            <a:pPr algn="l">
              <a:spcAft>
                <a:spcPts val="800"/>
              </a:spcAft>
            </a:pPr>
            <a:r>
              <a:rPr sz="1500" b="0" i="0">
                <a:solidFill>
                  <a:srgbClr val="1A2B33"/>
                </a:solidFill>
                <a:latin typeface="Calibri"/>
              </a:rPr>
              <a:t>Name and email columns are masked before any model call.</a:t>
            </a:r>
          </a:p>
          <a:p>
            <a:pPr algn="l">
              <a:spcAft>
                <a:spcPts val="800"/>
              </a:spcAft>
            </a:pPr>
            <a:r>
              <a:rPr sz="1500" b="0" i="0">
                <a:solidFill>
                  <a:srgbClr val="1A2B33"/>
                </a:solidFill>
                <a:latin typeface="Calibri"/>
              </a:rPr>
              <a:t>Calculations still use the real values, so answers stay exact.</a:t>
            </a:r>
          </a:p>
          <a:p>
            <a:pPr algn="l">
              <a:spcAft>
                <a:spcPts val="800"/>
              </a:spcAft>
            </a:pPr>
            <a:r>
              <a:rPr sz="1500" b="0" i="0">
                <a:solidFill>
                  <a:srgbClr val="1A2B33"/>
                </a:solidFill>
                <a:latin typeface="Calibri"/>
              </a:rPr>
              <a:t>Region is not personal data, so it passes through unchanged.</a:t>
            </a:r>
          </a:p>
        </p:txBody>
      </p:sp>
      <p:sp>
        <p:nvSpPr>
          <p:cNvPr id="29" name="TextBox 28"/>
          <p:cNvSpPr txBox="1"/>
          <p:nvPr/>
        </p:nvSpPr>
        <p:spPr>
          <a:xfrm>
            <a:off x="6812280" y="1508760"/>
            <a:ext cx="4830775" cy="320040"/>
          </a:xfrm>
          <a:prstGeom prst="rect">
            <a:avLst/>
          </a:prstGeom>
          <a:noFill/>
        </p:spPr>
        <p:txBody>
          <a:bodyPr wrap="square" lIns="0" rIns="0" tIns="0" bIns="0" anchor="t">
            <a:spAutoFit/>
          </a:bodyPr>
          <a:lstStyle/>
          <a:p>
            <a:pPr algn="l"/>
            <a:r>
              <a:rPr sz="1200" b="1" i="0" spc="200">
                <a:solidFill>
                  <a:srgbClr val="5C6E76"/>
                </a:solidFill>
                <a:latin typeface="Calibri"/>
              </a:rPr>
              <a:t>SANDBOX SAFEGUARDS</a:t>
            </a:r>
          </a:p>
        </p:txBody>
      </p:sp>
      <p:sp>
        <p:nvSpPr>
          <p:cNvPr id="30" name="Oval 29"/>
          <p:cNvSpPr/>
          <p:nvPr/>
        </p:nvSpPr>
        <p:spPr>
          <a:xfrm>
            <a:off x="6812280" y="1920240"/>
            <a:ext cx="457200" cy="457200"/>
          </a:xfrm>
          <a:prstGeom prst="ellipse">
            <a:avLst/>
          </a:prstGeom>
          <a:solidFill>
            <a:srgbClr val="E39B2D"/>
          </a:solidFill>
          <a:ln>
            <a:noFill/>
          </a:ln>
        </p:spPr>
        <p:txBody>
          <a:bodyPr rtlCol="0" anchor="ctr"/>
          <a:lstStyle/>
          <a:p/>
        </p:txBody>
      </p:sp>
      <p:sp>
        <p:nvSpPr>
          <p:cNvPr id="31" name="TextBox 30"/>
          <p:cNvSpPr txBox="1"/>
          <p:nvPr/>
        </p:nvSpPr>
        <p:spPr>
          <a:xfrm>
            <a:off x="6812280" y="1920240"/>
            <a:ext cx="457200" cy="457200"/>
          </a:xfrm>
          <a:prstGeom prst="rect">
            <a:avLst/>
          </a:prstGeom>
          <a:noFill/>
        </p:spPr>
        <p:txBody>
          <a:bodyPr wrap="square" lIns="0" rIns="0" tIns="0" bIns="0" anchor="ctr">
            <a:spAutoFit/>
          </a:bodyPr>
          <a:lstStyle/>
          <a:p>
            <a:pPr algn="ctr"/>
            <a:r>
              <a:rPr sz="1600" b="1" i="0">
                <a:solidFill>
                  <a:srgbClr val="0F2E3D"/>
                </a:solidFill>
                <a:latin typeface="Segoe UI Symbol"/>
              </a:rPr>
              <a:t>✓</a:t>
            </a:r>
          </a:p>
        </p:txBody>
      </p:sp>
      <p:sp>
        <p:nvSpPr>
          <p:cNvPr id="32" name="TextBox 31"/>
          <p:cNvSpPr txBox="1"/>
          <p:nvPr/>
        </p:nvSpPr>
        <p:spPr>
          <a:xfrm>
            <a:off x="7498079" y="1883664"/>
            <a:ext cx="4144975" cy="347472"/>
          </a:xfrm>
          <a:prstGeom prst="rect">
            <a:avLst/>
          </a:prstGeom>
          <a:noFill/>
        </p:spPr>
        <p:txBody>
          <a:bodyPr wrap="square" lIns="0" rIns="0" tIns="0" bIns="0" anchor="t">
            <a:spAutoFit/>
          </a:bodyPr>
          <a:lstStyle/>
          <a:p>
            <a:pPr algn="l"/>
            <a:r>
              <a:rPr sz="1700" b="1" i="0">
                <a:solidFill>
                  <a:srgbClr val="0F2E3D"/>
                </a:solidFill>
                <a:latin typeface="Calibri"/>
              </a:rPr>
              <a:t>Separate process</a:t>
            </a:r>
          </a:p>
        </p:txBody>
      </p:sp>
      <p:sp>
        <p:nvSpPr>
          <p:cNvPr id="33" name="TextBox 32"/>
          <p:cNvSpPr txBox="1"/>
          <p:nvPr/>
        </p:nvSpPr>
        <p:spPr>
          <a:xfrm>
            <a:off x="7498079" y="2249424"/>
            <a:ext cx="4144975" cy="548640"/>
          </a:xfrm>
          <a:prstGeom prst="rect">
            <a:avLst/>
          </a:prstGeom>
          <a:noFill/>
        </p:spPr>
        <p:txBody>
          <a:bodyPr wrap="square" lIns="0" rIns="0" tIns="0" bIns="0" anchor="t">
            <a:spAutoFit/>
          </a:bodyPr>
          <a:lstStyle/>
          <a:p>
            <a:pPr algn="l"/>
            <a:r>
              <a:rPr sz="1400" b="0" i="0">
                <a:solidFill>
                  <a:srgbClr val="1A2B33"/>
                </a:solidFill>
                <a:latin typeface="Calibri"/>
              </a:rPr>
              <a:t>Generated code never runs inside the app itself</a:t>
            </a:r>
          </a:p>
        </p:txBody>
      </p:sp>
      <p:sp>
        <p:nvSpPr>
          <p:cNvPr id="34" name="Oval 33"/>
          <p:cNvSpPr/>
          <p:nvPr/>
        </p:nvSpPr>
        <p:spPr>
          <a:xfrm>
            <a:off x="6812280" y="2944368"/>
            <a:ext cx="457200" cy="457200"/>
          </a:xfrm>
          <a:prstGeom prst="ellipse">
            <a:avLst/>
          </a:prstGeom>
          <a:solidFill>
            <a:srgbClr val="E39B2D"/>
          </a:solidFill>
          <a:ln>
            <a:noFill/>
          </a:ln>
        </p:spPr>
        <p:txBody>
          <a:bodyPr rtlCol="0" anchor="ctr"/>
          <a:lstStyle/>
          <a:p/>
        </p:txBody>
      </p:sp>
      <p:sp>
        <p:nvSpPr>
          <p:cNvPr id="35" name="TextBox 34"/>
          <p:cNvSpPr txBox="1"/>
          <p:nvPr/>
        </p:nvSpPr>
        <p:spPr>
          <a:xfrm>
            <a:off x="6812280" y="2944368"/>
            <a:ext cx="457200" cy="457200"/>
          </a:xfrm>
          <a:prstGeom prst="rect">
            <a:avLst/>
          </a:prstGeom>
          <a:noFill/>
        </p:spPr>
        <p:txBody>
          <a:bodyPr wrap="square" lIns="0" rIns="0" tIns="0" bIns="0" anchor="ctr">
            <a:spAutoFit/>
          </a:bodyPr>
          <a:lstStyle/>
          <a:p>
            <a:pPr algn="ctr"/>
            <a:r>
              <a:rPr sz="1600" b="1" i="0">
                <a:solidFill>
                  <a:srgbClr val="0F2E3D"/>
                </a:solidFill>
                <a:latin typeface="Segoe UI Symbol"/>
              </a:rPr>
              <a:t>✓</a:t>
            </a:r>
          </a:p>
        </p:txBody>
      </p:sp>
      <p:sp>
        <p:nvSpPr>
          <p:cNvPr id="36" name="TextBox 35"/>
          <p:cNvSpPr txBox="1"/>
          <p:nvPr/>
        </p:nvSpPr>
        <p:spPr>
          <a:xfrm>
            <a:off x="7498079" y="2907792"/>
            <a:ext cx="4144975" cy="347472"/>
          </a:xfrm>
          <a:prstGeom prst="rect">
            <a:avLst/>
          </a:prstGeom>
          <a:noFill/>
        </p:spPr>
        <p:txBody>
          <a:bodyPr wrap="square" lIns="0" rIns="0" tIns="0" bIns="0" anchor="t">
            <a:spAutoFit/>
          </a:bodyPr>
          <a:lstStyle/>
          <a:p>
            <a:pPr algn="l"/>
            <a:r>
              <a:rPr sz="1700" b="1" i="0">
                <a:solidFill>
                  <a:srgbClr val="0F2E3D"/>
                </a:solidFill>
                <a:latin typeface="Calibri"/>
              </a:rPr>
              <a:t>Static check</a:t>
            </a:r>
          </a:p>
        </p:txBody>
      </p:sp>
      <p:sp>
        <p:nvSpPr>
          <p:cNvPr id="37" name="TextBox 36"/>
          <p:cNvSpPr txBox="1"/>
          <p:nvPr/>
        </p:nvSpPr>
        <p:spPr>
          <a:xfrm>
            <a:off x="7498079" y="3273552"/>
            <a:ext cx="4144975" cy="548640"/>
          </a:xfrm>
          <a:prstGeom prst="rect">
            <a:avLst/>
          </a:prstGeom>
          <a:noFill/>
        </p:spPr>
        <p:txBody>
          <a:bodyPr wrap="square" lIns="0" rIns="0" tIns="0" bIns="0" anchor="t">
            <a:spAutoFit/>
          </a:bodyPr>
          <a:lstStyle/>
          <a:p>
            <a:pPr algn="l"/>
            <a:r>
              <a:rPr sz="1400" b="0" i="0">
                <a:solidFill>
                  <a:srgbClr val="1A2B33"/>
                </a:solidFill>
                <a:latin typeface="Calibri"/>
              </a:rPr>
              <a:t>Code is inspected before it runs, unsafe calls are refused</a:t>
            </a:r>
          </a:p>
        </p:txBody>
      </p:sp>
      <p:sp>
        <p:nvSpPr>
          <p:cNvPr id="38" name="Oval 37"/>
          <p:cNvSpPr/>
          <p:nvPr/>
        </p:nvSpPr>
        <p:spPr>
          <a:xfrm>
            <a:off x="6812280" y="3968496"/>
            <a:ext cx="457200" cy="457200"/>
          </a:xfrm>
          <a:prstGeom prst="ellipse">
            <a:avLst/>
          </a:prstGeom>
          <a:solidFill>
            <a:srgbClr val="E39B2D"/>
          </a:solidFill>
          <a:ln>
            <a:noFill/>
          </a:ln>
        </p:spPr>
        <p:txBody>
          <a:bodyPr rtlCol="0" anchor="ctr"/>
          <a:lstStyle/>
          <a:p/>
        </p:txBody>
      </p:sp>
      <p:sp>
        <p:nvSpPr>
          <p:cNvPr id="39" name="TextBox 38"/>
          <p:cNvSpPr txBox="1"/>
          <p:nvPr/>
        </p:nvSpPr>
        <p:spPr>
          <a:xfrm>
            <a:off x="6812280" y="3968496"/>
            <a:ext cx="457200" cy="457200"/>
          </a:xfrm>
          <a:prstGeom prst="rect">
            <a:avLst/>
          </a:prstGeom>
          <a:noFill/>
        </p:spPr>
        <p:txBody>
          <a:bodyPr wrap="square" lIns="0" rIns="0" tIns="0" bIns="0" anchor="ctr">
            <a:spAutoFit/>
          </a:bodyPr>
          <a:lstStyle/>
          <a:p>
            <a:pPr algn="ctr"/>
            <a:r>
              <a:rPr sz="1600" b="1" i="0">
                <a:solidFill>
                  <a:srgbClr val="0F2E3D"/>
                </a:solidFill>
                <a:latin typeface="Segoe UI Symbol"/>
              </a:rPr>
              <a:t>✓</a:t>
            </a:r>
          </a:p>
        </p:txBody>
      </p:sp>
      <p:sp>
        <p:nvSpPr>
          <p:cNvPr id="40" name="TextBox 39"/>
          <p:cNvSpPr txBox="1"/>
          <p:nvPr/>
        </p:nvSpPr>
        <p:spPr>
          <a:xfrm>
            <a:off x="7498079" y="3931920"/>
            <a:ext cx="4144975" cy="347472"/>
          </a:xfrm>
          <a:prstGeom prst="rect">
            <a:avLst/>
          </a:prstGeom>
          <a:noFill/>
        </p:spPr>
        <p:txBody>
          <a:bodyPr wrap="square" lIns="0" rIns="0" tIns="0" bIns="0" anchor="t">
            <a:spAutoFit/>
          </a:bodyPr>
          <a:lstStyle/>
          <a:p>
            <a:pPr algn="l"/>
            <a:r>
              <a:rPr sz="1700" b="1" i="0">
                <a:solidFill>
                  <a:srgbClr val="0F2E3D"/>
                </a:solidFill>
                <a:latin typeface="Calibri"/>
              </a:rPr>
              <a:t>No network</a:t>
            </a:r>
          </a:p>
        </p:txBody>
      </p:sp>
      <p:sp>
        <p:nvSpPr>
          <p:cNvPr id="41" name="TextBox 40"/>
          <p:cNvSpPr txBox="1"/>
          <p:nvPr/>
        </p:nvSpPr>
        <p:spPr>
          <a:xfrm>
            <a:off x="7498079" y="4297680"/>
            <a:ext cx="4144975" cy="548640"/>
          </a:xfrm>
          <a:prstGeom prst="rect">
            <a:avLst/>
          </a:prstGeom>
          <a:noFill/>
        </p:spPr>
        <p:txBody>
          <a:bodyPr wrap="square" lIns="0" rIns="0" tIns="0" bIns="0" anchor="t">
            <a:spAutoFit/>
          </a:bodyPr>
          <a:lstStyle/>
          <a:p>
            <a:pPr algn="l"/>
            <a:r>
              <a:rPr sz="1400" b="0" i="0">
                <a:solidFill>
                  <a:srgbClr val="1A2B33"/>
                </a:solidFill>
                <a:latin typeface="Calibri"/>
              </a:rPr>
              <a:t>Network access is blocked inside the sandbox</a:t>
            </a:r>
          </a:p>
        </p:txBody>
      </p:sp>
      <p:sp>
        <p:nvSpPr>
          <p:cNvPr id="42" name="Oval 41"/>
          <p:cNvSpPr/>
          <p:nvPr/>
        </p:nvSpPr>
        <p:spPr>
          <a:xfrm>
            <a:off x="6812280" y="4992624"/>
            <a:ext cx="457200" cy="457200"/>
          </a:xfrm>
          <a:prstGeom prst="ellipse">
            <a:avLst/>
          </a:prstGeom>
          <a:solidFill>
            <a:srgbClr val="E39B2D"/>
          </a:solidFill>
          <a:ln>
            <a:noFill/>
          </a:ln>
        </p:spPr>
        <p:txBody>
          <a:bodyPr rtlCol="0" anchor="ctr"/>
          <a:lstStyle/>
          <a:p/>
        </p:txBody>
      </p:sp>
      <p:sp>
        <p:nvSpPr>
          <p:cNvPr id="43" name="TextBox 42"/>
          <p:cNvSpPr txBox="1"/>
          <p:nvPr/>
        </p:nvSpPr>
        <p:spPr>
          <a:xfrm>
            <a:off x="6812280" y="4992624"/>
            <a:ext cx="457200" cy="457200"/>
          </a:xfrm>
          <a:prstGeom prst="rect">
            <a:avLst/>
          </a:prstGeom>
          <a:noFill/>
        </p:spPr>
        <p:txBody>
          <a:bodyPr wrap="square" lIns="0" rIns="0" tIns="0" bIns="0" anchor="ctr">
            <a:spAutoFit/>
          </a:bodyPr>
          <a:lstStyle/>
          <a:p>
            <a:pPr algn="ctr"/>
            <a:r>
              <a:rPr sz="1600" b="1" i="0">
                <a:solidFill>
                  <a:srgbClr val="0F2E3D"/>
                </a:solidFill>
                <a:latin typeface="Segoe UI Symbol"/>
              </a:rPr>
              <a:t>✓</a:t>
            </a:r>
          </a:p>
        </p:txBody>
      </p:sp>
      <p:sp>
        <p:nvSpPr>
          <p:cNvPr id="44" name="TextBox 43"/>
          <p:cNvSpPr txBox="1"/>
          <p:nvPr/>
        </p:nvSpPr>
        <p:spPr>
          <a:xfrm>
            <a:off x="7498079" y="4956048"/>
            <a:ext cx="4144975" cy="347472"/>
          </a:xfrm>
          <a:prstGeom prst="rect">
            <a:avLst/>
          </a:prstGeom>
          <a:noFill/>
        </p:spPr>
        <p:txBody>
          <a:bodyPr wrap="square" lIns="0" rIns="0" tIns="0" bIns="0" anchor="t">
            <a:spAutoFit/>
          </a:bodyPr>
          <a:lstStyle/>
          <a:p>
            <a:pPr algn="l"/>
            <a:r>
              <a:rPr sz="1700" b="1" i="0">
                <a:solidFill>
                  <a:srgbClr val="0F2E3D"/>
                </a:solidFill>
                <a:latin typeface="Calibri"/>
              </a:rPr>
              <a:t>Hard limits</a:t>
            </a:r>
          </a:p>
        </p:txBody>
      </p:sp>
      <p:sp>
        <p:nvSpPr>
          <p:cNvPr id="45" name="TextBox 44"/>
          <p:cNvSpPr txBox="1"/>
          <p:nvPr/>
        </p:nvSpPr>
        <p:spPr>
          <a:xfrm>
            <a:off x="7498079" y="5321808"/>
            <a:ext cx="4144975" cy="548640"/>
          </a:xfrm>
          <a:prstGeom prst="rect">
            <a:avLst/>
          </a:prstGeom>
          <a:noFill/>
        </p:spPr>
        <p:txBody>
          <a:bodyPr wrap="square" lIns="0" rIns="0" tIns="0" bIns="0" anchor="t">
            <a:spAutoFit/>
          </a:bodyPr>
          <a:lstStyle/>
          <a:p>
            <a:pPr algn="l"/>
            <a:r>
              <a:rPr sz="1400" b="0" i="0">
                <a:solidFill>
                  <a:srgbClr val="1A2B33"/>
                </a:solidFill>
                <a:latin typeface="Calibri"/>
              </a:rPr>
              <a:t>20-second timeout and 512 MB memory cap, enforced from outside</a:t>
            </a:r>
          </a:p>
        </p:txBody>
      </p:sp>
      <p:sp>
        <p:nvSpPr>
          <p:cNvPr id="46" name="Footer"/>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5C6E76"/>
                </a:solidFill>
                <a:latin typeface="Calibri"/>
              </a:rPr>
              <a:t>Capstone · Autonomous Data-Analysis Agent</a:t>
            </a:r>
          </a:p>
        </p:txBody>
      </p:sp>
      <p:sp>
        <p:nvSpPr>
          <p:cNvPr id="47" name="Slide number"/>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5C6E76"/>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94415" cy="777240"/>
          </a:xfrm>
          <a:prstGeom prst="rect">
            <a:avLst/>
          </a:prstGeom>
          <a:noFill/>
        </p:spPr>
        <p:txBody>
          <a:bodyPr wrap="square" lIns="0" rIns="0" tIns="0" bIns="0" anchor="ctr">
            <a:spAutoFit/>
          </a:bodyPr>
          <a:lstStyle/>
          <a:p>
            <a:pPr algn="l"/>
            <a:r>
              <a:rPr sz="3400" b="1" i="0">
                <a:solidFill>
                  <a:srgbClr val="0F2E3D"/>
                </a:solidFill>
                <a:latin typeface="Cambria"/>
              </a:rPr>
              <a:t>Zero cost, with open fallbacks when a model fails</a:t>
            </a:r>
          </a:p>
        </p:txBody>
      </p:sp>
      <p:sp>
        <p:nvSpPr>
          <p:cNvPr id="3" name="TextBox 2"/>
          <p:cNvSpPr txBox="1"/>
          <p:nvPr/>
        </p:nvSpPr>
        <p:spPr>
          <a:xfrm>
            <a:off x="548640" y="1508760"/>
            <a:ext cx="7315200" cy="320040"/>
          </a:xfrm>
          <a:prstGeom prst="rect">
            <a:avLst/>
          </a:prstGeom>
          <a:noFill/>
        </p:spPr>
        <p:txBody>
          <a:bodyPr wrap="square" lIns="0" rIns="0" tIns="0" bIns="0" anchor="t">
            <a:spAutoFit/>
          </a:bodyPr>
          <a:lstStyle/>
          <a:p>
            <a:pPr algn="l"/>
            <a:r>
              <a:rPr sz="1200" b="1" i="0" spc="150">
                <a:solidFill>
                  <a:srgbClr val="5C6E76"/>
                </a:solidFill>
                <a:latin typeface="Calibri"/>
              </a:rPr>
              <a:t>IF A MODEL TIER FAILS 3 TIMES IN 2 MINUTES, THE NEXT ONE TAKES OVER</a:t>
            </a:r>
          </a:p>
        </p:txBody>
      </p:sp>
      <p:sp>
        <p:nvSpPr>
          <p:cNvPr id="4" name="Rounded Rectangle 3"/>
          <p:cNvSpPr/>
          <p:nvPr/>
        </p:nvSpPr>
        <p:spPr>
          <a:xfrm>
            <a:off x="548640" y="1965960"/>
            <a:ext cx="2331720" cy="1051560"/>
          </a:xfrm>
          <a:prstGeom prst="roundRect">
            <a:avLst>
              <a:gd name="adj" fmla="val 10434"/>
            </a:avLst>
          </a:prstGeom>
          <a:solidFill>
            <a:srgbClr val="0F2E3D"/>
          </a:solidFill>
          <a:ln>
            <a:noFill/>
          </a:ln>
        </p:spPr>
        <p:txBody>
          <a:bodyPr rtlCol="0" anchor="ctr"/>
          <a:lstStyle/>
          <a:p/>
        </p:txBody>
      </p:sp>
      <p:sp>
        <p:nvSpPr>
          <p:cNvPr id="5" name="TextBox 4"/>
          <p:cNvSpPr txBox="1"/>
          <p:nvPr/>
        </p:nvSpPr>
        <p:spPr>
          <a:xfrm>
            <a:off x="658368" y="2075688"/>
            <a:ext cx="2112263" cy="292608"/>
          </a:xfrm>
          <a:prstGeom prst="rect">
            <a:avLst/>
          </a:prstGeom>
          <a:noFill/>
        </p:spPr>
        <p:txBody>
          <a:bodyPr wrap="square" lIns="0" rIns="0" tIns="0" bIns="0" anchor="t">
            <a:spAutoFit/>
          </a:bodyPr>
          <a:lstStyle/>
          <a:p>
            <a:pPr algn="ctr"/>
            <a:r>
              <a:rPr sz="1700" b="1" i="0">
                <a:solidFill>
                  <a:srgbClr val="FFFFFF"/>
                </a:solidFill>
                <a:latin typeface="Calibri"/>
              </a:rPr>
              <a:t>Groq</a:t>
            </a:r>
          </a:p>
        </p:txBody>
      </p:sp>
      <p:sp>
        <p:nvSpPr>
          <p:cNvPr id="6" name="TextBox 5"/>
          <p:cNvSpPr txBox="1"/>
          <p:nvPr/>
        </p:nvSpPr>
        <p:spPr>
          <a:xfrm>
            <a:off x="658368" y="2395728"/>
            <a:ext cx="2112263" cy="548639"/>
          </a:xfrm>
          <a:prstGeom prst="rect">
            <a:avLst/>
          </a:prstGeom>
          <a:noFill/>
        </p:spPr>
        <p:txBody>
          <a:bodyPr wrap="square" lIns="0" rIns="0" tIns="0" bIns="0" anchor="t">
            <a:spAutoFit/>
          </a:bodyPr>
          <a:lstStyle/>
          <a:p>
            <a:pPr algn="ctr"/>
            <a:r>
              <a:rPr sz="1300" b="0" i="0">
                <a:solidFill>
                  <a:srgbClr val="BFD6DA"/>
                </a:solidFill>
                <a:latin typeface="Calibri"/>
              </a:rPr>
              <a:t>primary · free tier</a:t>
            </a:r>
          </a:p>
        </p:txBody>
      </p:sp>
      <p:cxnSp>
        <p:nvCxnSpPr>
          <p:cNvPr id="7" name="Connector 6"/>
          <p:cNvCxnSpPr/>
          <p:nvPr/>
        </p:nvCxnSpPr>
        <p:spPr>
          <a:xfrm>
            <a:off x="2926079" y="2491739"/>
            <a:ext cx="365761" cy="0"/>
          </a:xfrm>
          <a:prstGeom prst="line">
            <a:avLst/>
          </a:prstGeom>
          <a:ln w="22225">
            <a:solidFill>
              <a:srgbClr val="0F2E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337560" y="1965960"/>
            <a:ext cx="2331720" cy="1051560"/>
          </a:xfrm>
          <a:prstGeom prst="roundRect">
            <a:avLst>
              <a:gd name="adj" fmla="val 10434"/>
            </a:avLst>
          </a:prstGeom>
          <a:solidFill>
            <a:srgbClr val="E8F0F1"/>
          </a:solidFill>
          <a:ln>
            <a:noFill/>
          </a:ln>
        </p:spPr>
        <p:txBody>
          <a:bodyPr rtlCol="0" anchor="ctr"/>
          <a:lstStyle/>
          <a:p/>
        </p:txBody>
      </p:sp>
      <p:sp>
        <p:nvSpPr>
          <p:cNvPr id="9" name="TextBox 8"/>
          <p:cNvSpPr txBox="1"/>
          <p:nvPr/>
        </p:nvSpPr>
        <p:spPr>
          <a:xfrm>
            <a:off x="3447288" y="2075688"/>
            <a:ext cx="2112263" cy="292608"/>
          </a:xfrm>
          <a:prstGeom prst="rect">
            <a:avLst/>
          </a:prstGeom>
          <a:noFill/>
        </p:spPr>
        <p:txBody>
          <a:bodyPr wrap="square" lIns="0" rIns="0" tIns="0" bIns="0" anchor="t">
            <a:spAutoFit/>
          </a:bodyPr>
          <a:lstStyle/>
          <a:p>
            <a:pPr algn="ctr"/>
            <a:r>
              <a:rPr sz="1700" b="1" i="0">
                <a:solidFill>
                  <a:srgbClr val="0F2E3D"/>
                </a:solidFill>
                <a:latin typeface="Calibri"/>
              </a:rPr>
              <a:t>Local model</a:t>
            </a:r>
          </a:p>
        </p:txBody>
      </p:sp>
      <p:sp>
        <p:nvSpPr>
          <p:cNvPr id="10" name="TextBox 9"/>
          <p:cNvSpPr txBox="1"/>
          <p:nvPr/>
        </p:nvSpPr>
        <p:spPr>
          <a:xfrm>
            <a:off x="3447288" y="2395728"/>
            <a:ext cx="2112263" cy="548639"/>
          </a:xfrm>
          <a:prstGeom prst="rect">
            <a:avLst/>
          </a:prstGeom>
          <a:noFill/>
        </p:spPr>
        <p:txBody>
          <a:bodyPr wrap="square" lIns="0" rIns="0" tIns="0" bIns="0" anchor="t">
            <a:spAutoFit/>
          </a:bodyPr>
          <a:lstStyle/>
          <a:p>
            <a:pPr algn="ctr"/>
            <a:r>
              <a:rPr sz="1300" b="0" i="0">
                <a:solidFill>
                  <a:srgbClr val="5C6E76"/>
                </a:solidFill>
                <a:latin typeface="Calibri"/>
              </a:rPr>
              <a:t>optional · Ollama etc.</a:t>
            </a:r>
          </a:p>
        </p:txBody>
      </p:sp>
      <p:cxnSp>
        <p:nvCxnSpPr>
          <p:cNvPr id="11" name="Connector 10"/>
          <p:cNvCxnSpPr/>
          <p:nvPr/>
        </p:nvCxnSpPr>
        <p:spPr>
          <a:xfrm>
            <a:off x="5714999" y="2491739"/>
            <a:ext cx="365760" cy="0"/>
          </a:xfrm>
          <a:prstGeom prst="line">
            <a:avLst/>
          </a:prstGeom>
          <a:ln w="22225">
            <a:solidFill>
              <a:srgbClr val="0F2E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126479" y="1965960"/>
            <a:ext cx="2331720" cy="1051560"/>
          </a:xfrm>
          <a:prstGeom prst="roundRect">
            <a:avLst>
              <a:gd name="adj" fmla="val 10434"/>
            </a:avLst>
          </a:prstGeom>
          <a:solidFill>
            <a:srgbClr val="E8F0F1"/>
          </a:solidFill>
          <a:ln>
            <a:noFill/>
          </a:ln>
        </p:spPr>
        <p:txBody>
          <a:bodyPr rtlCol="0" anchor="ctr"/>
          <a:lstStyle/>
          <a:p/>
        </p:txBody>
      </p:sp>
      <p:sp>
        <p:nvSpPr>
          <p:cNvPr id="13" name="TextBox 12"/>
          <p:cNvSpPr txBox="1"/>
          <p:nvPr/>
        </p:nvSpPr>
        <p:spPr>
          <a:xfrm>
            <a:off x="6236207" y="2075688"/>
            <a:ext cx="2112263" cy="292608"/>
          </a:xfrm>
          <a:prstGeom prst="rect">
            <a:avLst/>
          </a:prstGeom>
          <a:noFill/>
        </p:spPr>
        <p:txBody>
          <a:bodyPr wrap="square" lIns="0" rIns="0" tIns="0" bIns="0" anchor="t">
            <a:spAutoFit/>
          </a:bodyPr>
          <a:lstStyle/>
          <a:p>
            <a:pPr algn="ctr"/>
            <a:r>
              <a:rPr sz="1700" b="1" i="0">
                <a:solidFill>
                  <a:srgbClr val="0F2E3D"/>
                </a:solidFill>
                <a:latin typeface="Calibri"/>
              </a:rPr>
              <a:t>Heuristic stub</a:t>
            </a:r>
          </a:p>
        </p:txBody>
      </p:sp>
      <p:sp>
        <p:nvSpPr>
          <p:cNvPr id="14" name="TextBox 13"/>
          <p:cNvSpPr txBox="1"/>
          <p:nvPr/>
        </p:nvSpPr>
        <p:spPr>
          <a:xfrm>
            <a:off x="6236207" y="2395728"/>
            <a:ext cx="2112263" cy="548639"/>
          </a:xfrm>
          <a:prstGeom prst="rect">
            <a:avLst/>
          </a:prstGeom>
          <a:noFill/>
        </p:spPr>
        <p:txBody>
          <a:bodyPr wrap="square" lIns="0" rIns="0" tIns="0" bIns="0" anchor="t">
            <a:spAutoFit/>
          </a:bodyPr>
          <a:lstStyle/>
          <a:p>
            <a:pPr algn="ctr"/>
            <a:r>
              <a:rPr sz="1300" b="0" i="0">
                <a:solidFill>
                  <a:srgbClr val="5C6E76"/>
                </a:solidFill>
                <a:latin typeface="Calibri"/>
              </a:rPr>
              <a:t>always available</a:t>
            </a:r>
          </a:p>
        </p:txBody>
      </p:sp>
      <p:sp>
        <p:nvSpPr>
          <p:cNvPr id="15" name="Rounded Rectangle 14"/>
          <p:cNvSpPr/>
          <p:nvPr/>
        </p:nvSpPr>
        <p:spPr>
          <a:xfrm>
            <a:off x="3337560" y="3200400"/>
            <a:ext cx="5120640" cy="548640"/>
          </a:xfrm>
          <a:prstGeom prst="roundRect">
            <a:avLst>
              <a:gd name="adj" fmla="val 12000"/>
            </a:avLst>
          </a:prstGeom>
          <a:noFill/>
          <a:ln w="19050">
            <a:solidFill>
              <a:srgbClr val="E39B2D"/>
            </a:solidFill>
          </a:ln>
        </p:spPr>
        <p:txBody>
          <a:bodyPr rtlCol="0" anchor="ctr"/>
          <a:lstStyle/>
          <a:p/>
        </p:txBody>
      </p:sp>
      <p:sp>
        <p:nvSpPr>
          <p:cNvPr id="16" name="TextBox 15"/>
          <p:cNvSpPr txBox="1"/>
          <p:nvPr/>
        </p:nvSpPr>
        <p:spPr>
          <a:xfrm>
            <a:off x="3337560" y="3200400"/>
            <a:ext cx="5120640" cy="548640"/>
          </a:xfrm>
          <a:prstGeom prst="rect">
            <a:avLst/>
          </a:prstGeom>
          <a:noFill/>
        </p:spPr>
        <p:txBody>
          <a:bodyPr wrap="square" lIns="0" rIns="0" tIns="0" bIns="0" anchor="ctr">
            <a:spAutoFit/>
          </a:bodyPr>
          <a:lstStyle/>
          <a:p>
            <a:pPr algn="ctr"/>
            <a:r>
              <a:rPr sz="1300" b="1" i="0">
                <a:solidFill>
                  <a:srgbClr val="1A2B33"/>
                </a:solidFill>
                <a:latin typeface="Calibri"/>
              </a:rPr>
              <a:t>Answers marked “degraded mode” and excluded from scoring</a:t>
            </a:r>
          </a:p>
        </p:txBody>
      </p:sp>
      <p:sp>
        <p:nvSpPr>
          <p:cNvPr id="17" name="TextBox 16"/>
          <p:cNvSpPr txBox="1"/>
          <p:nvPr/>
        </p:nvSpPr>
        <p:spPr>
          <a:xfrm>
            <a:off x="548640" y="4069080"/>
            <a:ext cx="7498079" cy="320040"/>
          </a:xfrm>
          <a:prstGeom prst="rect">
            <a:avLst/>
          </a:prstGeom>
          <a:noFill/>
        </p:spPr>
        <p:txBody>
          <a:bodyPr wrap="square" lIns="0" rIns="0" tIns="0" bIns="0" anchor="t">
            <a:spAutoFit/>
          </a:bodyPr>
          <a:lstStyle/>
          <a:p>
            <a:pPr algn="l"/>
            <a:r>
              <a:rPr sz="1200" b="1" i="0" spc="200">
                <a:solidFill>
                  <a:srgbClr val="5C6E76"/>
                </a:solidFill>
                <a:latin typeface="Calibri"/>
              </a:rPr>
              <a:t>MODELS PER STAGE</a:t>
            </a:r>
          </a:p>
        </p:txBody>
      </p:sp>
      <p:sp>
        <p:nvSpPr>
          <p:cNvPr id="18" name="TextBox 17"/>
          <p:cNvSpPr txBox="1"/>
          <p:nvPr/>
        </p:nvSpPr>
        <p:spPr>
          <a:xfrm>
            <a:off x="548640" y="4480560"/>
            <a:ext cx="2377440" cy="457200"/>
          </a:xfrm>
          <a:prstGeom prst="rect">
            <a:avLst/>
          </a:prstGeom>
          <a:noFill/>
        </p:spPr>
        <p:txBody>
          <a:bodyPr wrap="square" lIns="0" rIns="0" tIns="0" bIns="0" anchor="ctr">
            <a:spAutoFit/>
          </a:bodyPr>
          <a:lstStyle/>
          <a:p>
            <a:pPr algn="l"/>
            <a:r>
              <a:rPr sz="1500" b="1" i="0">
                <a:solidFill>
                  <a:srgbClr val="0F2E3D"/>
                </a:solidFill>
                <a:latin typeface="Calibri"/>
              </a:rPr>
              <a:t>Router, code writer</a:t>
            </a:r>
          </a:p>
        </p:txBody>
      </p:sp>
      <p:sp>
        <p:nvSpPr>
          <p:cNvPr id="19" name="TextBox 18"/>
          <p:cNvSpPr txBox="1"/>
          <p:nvPr/>
        </p:nvSpPr>
        <p:spPr>
          <a:xfrm>
            <a:off x="3017520" y="4480560"/>
            <a:ext cx="2011680" cy="457200"/>
          </a:xfrm>
          <a:prstGeom prst="rect">
            <a:avLst/>
          </a:prstGeom>
          <a:noFill/>
        </p:spPr>
        <p:txBody>
          <a:bodyPr wrap="square" lIns="0" rIns="0" tIns="0" bIns="0" anchor="ctr">
            <a:spAutoFit/>
          </a:bodyPr>
          <a:lstStyle/>
          <a:p>
            <a:pPr algn="l"/>
            <a:r>
              <a:rPr sz="1500" b="0" i="0">
                <a:solidFill>
                  <a:srgbClr val="1F6F78"/>
                </a:solidFill>
                <a:latin typeface="Courier New"/>
              </a:rPr>
              <a:t>gpt-oss-20b</a:t>
            </a:r>
          </a:p>
        </p:txBody>
      </p:sp>
      <p:sp>
        <p:nvSpPr>
          <p:cNvPr id="20" name="TextBox 19"/>
          <p:cNvSpPr txBox="1"/>
          <p:nvPr/>
        </p:nvSpPr>
        <p:spPr>
          <a:xfrm>
            <a:off x="5120640" y="4480560"/>
            <a:ext cx="3017520" cy="457200"/>
          </a:xfrm>
          <a:prstGeom prst="rect">
            <a:avLst/>
          </a:prstGeom>
          <a:noFill/>
        </p:spPr>
        <p:txBody>
          <a:bodyPr wrap="square" lIns="0" rIns="0" tIns="0" bIns="0" anchor="ctr">
            <a:spAutoFit/>
          </a:bodyPr>
          <a:lstStyle/>
          <a:p>
            <a:pPr algn="l"/>
            <a:r>
              <a:rPr sz="1400" b="0" i="0">
                <a:solidFill>
                  <a:srgbClr val="5C6E76"/>
                </a:solidFill>
                <a:latin typeface="Calibri"/>
              </a:rPr>
              <a:t>fast, cheap decisions</a:t>
            </a:r>
          </a:p>
        </p:txBody>
      </p:sp>
      <p:sp>
        <p:nvSpPr>
          <p:cNvPr id="21" name="TextBox 20"/>
          <p:cNvSpPr txBox="1"/>
          <p:nvPr/>
        </p:nvSpPr>
        <p:spPr>
          <a:xfrm>
            <a:off x="548640" y="5166360"/>
            <a:ext cx="2377440" cy="457200"/>
          </a:xfrm>
          <a:prstGeom prst="rect">
            <a:avLst/>
          </a:prstGeom>
          <a:noFill/>
        </p:spPr>
        <p:txBody>
          <a:bodyPr wrap="square" lIns="0" rIns="0" tIns="0" bIns="0" anchor="ctr">
            <a:spAutoFit/>
          </a:bodyPr>
          <a:lstStyle/>
          <a:p>
            <a:pPr algn="l"/>
            <a:r>
              <a:rPr sz="1500" b="1" i="0">
                <a:solidFill>
                  <a:srgbClr val="0F2E3D"/>
                </a:solidFill>
                <a:latin typeface="Calibri"/>
              </a:rPr>
              <a:t>Planner, verifier</a:t>
            </a:r>
          </a:p>
        </p:txBody>
      </p:sp>
      <p:sp>
        <p:nvSpPr>
          <p:cNvPr id="22" name="TextBox 21"/>
          <p:cNvSpPr txBox="1"/>
          <p:nvPr/>
        </p:nvSpPr>
        <p:spPr>
          <a:xfrm>
            <a:off x="3017520" y="5166360"/>
            <a:ext cx="2011680" cy="457200"/>
          </a:xfrm>
          <a:prstGeom prst="rect">
            <a:avLst/>
          </a:prstGeom>
          <a:noFill/>
        </p:spPr>
        <p:txBody>
          <a:bodyPr wrap="square" lIns="0" rIns="0" tIns="0" bIns="0" anchor="ctr">
            <a:spAutoFit/>
          </a:bodyPr>
          <a:lstStyle/>
          <a:p>
            <a:pPr algn="l"/>
            <a:r>
              <a:rPr sz="1500" b="0" i="0">
                <a:solidFill>
                  <a:srgbClr val="1F6F78"/>
                </a:solidFill>
                <a:latin typeface="Courier New"/>
              </a:rPr>
              <a:t>gpt-oss-120b</a:t>
            </a:r>
          </a:p>
        </p:txBody>
      </p:sp>
      <p:sp>
        <p:nvSpPr>
          <p:cNvPr id="23" name="TextBox 22"/>
          <p:cNvSpPr txBox="1"/>
          <p:nvPr/>
        </p:nvSpPr>
        <p:spPr>
          <a:xfrm>
            <a:off x="5120640" y="5166360"/>
            <a:ext cx="3017520" cy="457200"/>
          </a:xfrm>
          <a:prstGeom prst="rect">
            <a:avLst/>
          </a:prstGeom>
          <a:noFill/>
        </p:spPr>
        <p:txBody>
          <a:bodyPr wrap="square" lIns="0" rIns="0" tIns="0" bIns="0" anchor="ctr">
            <a:spAutoFit/>
          </a:bodyPr>
          <a:lstStyle/>
          <a:p>
            <a:pPr algn="l"/>
            <a:r>
              <a:rPr sz="1400" b="0" i="0">
                <a:solidFill>
                  <a:srgbClr val="5C6E76"/>
                </a:solidFill>
                <a:latin typeface="Calibri"/>
              </a:rPr>
              <a:t>where reasoning quality matters most</a:t>
            </a:r>
          </a:p>
        </p:txBody>
      </p:sp>
      <p:sp>
        <p:nvSpPr>
          <p:cNvPr id="24" name="Rounded Rectangle 23"/>
          <p:cNvSpPr/>
          <p:nvPr/>
        </p:nvSpPr>
        <p:spPr>
          <a:xfrm>
            <a:off x="8732520" y="1600200"/>
            <a:ext cx="2910535" cy="4206240"/>
          </a:xfrm>
          <a:prstGeom prst="roundRect">
            <a:avLst>
              <a:gd name="adj" fmla="val 3770"/>
            </a:avLst>
          </a:prstGeom>
          <a:solidFill>
            <a:srgbClr val="0F2E3D"/>
          </a:solidFill>
          <a:ln>
            <a:noFill/>
          </a:ln>
        </p:spPr>
        <p:txBody>
          <a:bodyPr rtlCol="0" anchor="ctr"/>
          <a:lstStyle/>
          <a:p/>
        </p:txBody>
      </p:sp>
      <p:sp>
        <p:nvSpPr>
          <p:cNvPr id="25" name="TextBox 24"/>
          <p:cNvSpPr txBox="1"/>
          <p:nvPr/>
        </p:nvSpPr>
        <p:spPr>
          <a:xfrm>
            <a:off x="9006840" y="2011680"/>
            <a:ext cx="2361895" cy="1280160"/>
          </a:xfrm>
          <a:prstGeom prst="rect">
            <a:avLst/>
          </a:prstGeom>
          <a:noFill/>
        </p:spPr>
        <p:txBody>
          <a:bodyPr wrap="square" lIns="0" rIns="0" tIns="0" bIns="0" anchor="t">
            <a:spAutoFit/>
          </a:bodyPr>
          <a:lstStyle/>
          <a:p>
            <a:pPr algn="l"/>
            <a:r>
              <a:rPr sz="8000" b="1" i="0">
                <a:solidFill>
                  <a:srgbClr val="E39B2D"/>
                </a:solidFill>
                <a:latin typeface="Cambria"/>
              </a:rPr>
              <a:t>$0</a:t>
            </a:r>
          </a:p>
        </p:txBody>
      </p:sp>
      <p:sp>
        <p:nvSpPr>
          <p:cNvPr id="26" name="TextBox 25"/>
          <p:cNvSpPr txBox="1"/>
          <p:nvPr/>
        </p:nvSpPr>
        <p:spPr>
          <a:xfrm>
            <a:off x="9006840" y="3429000"/>
            <a:ext cx="2361895" cy="457200"/>
          </a:xfrm>
          <a:prstGeom prst="rect">
            <a:avLst/>
          </a:prstGeom>
          <a:noFill/>
        </p:spPr>
        <p:txBody>
          <a:bodyPr wrap="square" lIns="0" rIns="0" tIns="0" bIns="0" anchor="t">
            <a:spAutoFit/>
          </a:bodyPr>
          <a:lstStyle/>
          <a:p>
            <a:pPr algn="l"/>
            <a:r>
              <a:rPr sz="1700" b="1" i="0">
                <a:solidFill>
                  <a:srgbClr val="FFFFFF"/>
                </a:solidFill>
                <a:latin typeface="Calibri"/>
              </a:rPr>
              <a:t>model cost per question</a:t>
            </a:r>
          </a:p>
        </p:txBody>
      </p:sp>
      <p:sp>
        <p:nvSpPr>
          <p:cNvPr id="27" name="TextBox 26"/>
          <p:cNvSpPr txBox="1"/>
          <p:nvPr/>
        </p:nvSpPr>
        <p:spPr>
          <a:xfrm>
            <a:off x="9006840" y="3977639"/>
            <a:ext cx="2361895" cy="1645920"/>
          </a:xfrm>
          <a:prstGeom prst="rect">
            <a:avLst/>
          </a:prstGeom>
          <a:noFill/>
        </p:spPr>
        <p:txBody>
          <a:bodyPr wrap="square" lIns="0" rIns="0" tIns="0" bIns="0" anchor="t">
            <a:spAutoFit/>
          </a:bodyPr>
          <a:lstStyle/>
          <a:p>
            <a:pPr algn="l"/>
            <a:r>
              <a:rPr sz="1400" b="0" i="0">
                <a:solidFill>
                  <a:srgbClr val="BFD6DA"/>
                </a:solidFill>
                <a:latin typeface="Calibri"/>
              </a:rPr>
              <a:t>Groq's free tier hosts open models. The project tracks tokens and latency instead of dollars.</a:t>
            </a:r>
          </a:p>
        </p:txBody>
      </p:sp>
      <p:sp>
        <p:nvSpPr>
          <p:cNvPr id="28" name="Footer"/>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5C6E76"/>
                </a:solidFill>
                <a:latin typeface="Calibri"/>
              </a:rPr>
              <a:t>Capstone · Autonomous Data-Analysis Agent</a:t>
            </a:r>
          </a:p>
        </p:txBody>
      </p:sp>
      <p:sp>
        <p:nvSpPr>
          <p:cNvPr id="29" name="Slide number"/>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5C6E7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94415" cy="777240"/>
          </a:xfrm>
          <a:prstGeom prst="rect">
            <a:avLst/>
          </a:prstGeom>
          <a:noFill/>
        </p:spPr>
        <p:txBody>
          <a:bodyPr wrap="square" lIns="0" rIns="0" tIns="0" bIns="0" anchor="ctr">
            <a:spAutoFit/>
          </a:bodyPr>
          <a:lstStyle/>
          <a:p>
            <a:pPr algn="l"/>
            <a:r>
              <a:rPr sz="3400" b="1" i="0">
                <a:solidFill>
                  <a:srgbClr val="0F2E3D"/>
                </a:solidFill>
                <a:latin typeface="Cambria"/>
              </a:rPr>
              <a:t>Live demo</a:t>
            </a:r>
          </a:p>
        </p:txBody>
      </p:sp>
      <p:sp>
        <p:nvSpPr>
          <p:cNvPr id="3" name="Oval 2"/>
          <p:cNvSpPr/>
          <p:nvPr/>
        </p:nvSpPr>
        <p:spPr>
          <a:xfrm>
            <a:off x="548640" y="1563624"/>
            <a:ext cx="566928" cy="566928"/>
          </a:xfrm>
          <a:prstGeom prst="ellipse">
            <a:avLst/>
          </a:prstGeom>
          <a:solidFill>
            <a:srgbClr val="E8F0F1"/>
          </a:solidFill>
          <a:ln>
            <a:noFill/>
          </a:ln>
        </p:spPr>
        <p:txBody>
          <a:bodyPr rtlCol="0" anchor="ctr"/>
          <a:lstStyle/>
          <a:p/>
        </p:txBody>
      </p:sp>
      <p:sp>
        <p:nvSpPr>
          <p:cNvPr id="4" name="TextBox 3"/>
          <p:cNvSpPr txBox="1"/>
          <p:nvPr/>
        </p:nvSpPr>
        <p:spPr>
          <a:xfrm>
            <a:off x="548640" y="1563624"/>
            <a:ext cx="566928" cy="566928"/>
          </a:xfrm>
          <a:prstGeom prst="rect">
            <a:avLst/>
          </a:prstGeom>
          <a:noFill/>
        </p:spPr>
        <p:txBody>
          <a:bodyPr wrap="square" lIns="0" rIns="0" tIns="0" bIns="0" anchor="ctr">
            <a:spAutoFit/>
          </a:bodyPr>
          <a:lstStyle/>
          <a:p>
            <a:pPr algn="ctr"/>
            <a:r>
              <a:rPr sz="1800" b="1" i="0">
                <a:solidFill>
                  <a:srgbClr val="0F2E3D"/>
                </a:solidFill>
                <a:latin typeface="Calibri"/>
              </a:rPr>
              <a:t>1</a:t>
            </a:r>
          </a:p>
        </p:txBody>
      </p:sp>
      <p:sp>
        <p:nvSpPr>
          <p:cNvPr id="5" name="TextBox 4"/>
          <p:cNvSpPr txBox="1"/>
          <p:nvPr/>
        </p:nvSpPr>
        <p:spPr>
          <a:xfrm>
            <a:off x="1371600" y="1508760"/>
            <a:ext cx="10271455" cy="384048"/>
          </a:xfrm>
          <a:prstGeom prst="rect">
            <a:avLst/>
          </a:prstGeom>
          <a:noFill/>
        </p:spPr>
        <p:txBody>
          <a:bodyPr wrap="square" lIns="0" rIns="0" tIns="0" bIns="0" anchor="t">
            <a:spAutoFit/>
          </a:bodyPr>
          <a:lstStyle/>
          <a:p>
            <a:pPr algn="l"/>
            <a:r>
              <a:rPr sz="1800" b="1" i="0">
                <a:solidFill>
                  <a:srgbClr val="0F2E3D"/>
                </a:solidFill>
                <a:latin typeface="Calibri"/>
              </a:rPr>
              <a:t>Upload both sample files</a:t>
            </a:r>
          </a:p>
        </p:txBody>
      </p:sp>
      <p:sp>
        <p:nvSpPr>
          <p:cNvPr id="6" name="TextBox 5"/>
          <p:cNvSpPr txBox="1"/>
          <p:nvPr/>
        </p:nvSpPr>
        <p:spPr>
          <a:xfrm>
            <a:off x="1371600" y="1911095"/>
            <a:ext cx="10271455" cy="411480"/>
          </a:xfrm>
          <a:prstGeom prst="rect">
            <a:avLst/>
          </a:prstGeom>
          <a:noFill/>
        </p:spPr>
        <p:txBody>
          <a:bodyPr wrap="square" lIns="0" rIns="0" tIns="0" bIns="0" anchor="t">
            <a:spAutoFit/>
          </a:bodyPr>
          <a:lstStyle/>
          <a:p>
            <a:pPr algn="l"/>
            <a:r>
              <a:rPr sz="1400" b="0" i="0">
                <a:solidFill>
                  <a:srgbClr val="1A2B33"/>
                </a:solidFill>
                <a:latin typeface="Calibri"/>
              </a:rPr>
              <a:t>orders.csv and customers.csv. Watch the name and email columns get flagged as personal data.</a:t>
            </a:r>
          </a:p>
        </p:txBody>
      </p:sp>
      <p:sp>
        <p:nvSpPr>
          <p:cNvPr id="7" name="Oval 6"/>
          <p:cNvSpPr/>
          <p:nvPr/>
        </p:nvSpPr>
        <p:spPr>
          <a:xfrm>
            <a:off x="548640" y="2505456"/>
            <a:ext cx="566928" cy="566928"/>
          </a:xfrm>
          <a:prstGeom prst="ellipse">
            <a:avLst/>
          </a:prstGeom>
          <a:solidFill>
            <a:srgbClr val="E39B2D"/>
          </a:solidFill>
          <a:ln>
            <a:noFill/>
          </a:ln>
        </p:spPr>
        <p:txBody>
          <a:bodyPr rtlCol="0" anchor="ctr"/>
          <a:lstStyle/>
          <a:p/>
        </p:txBody>
      </p:sp>
      <p:sp>
        <p:nvSpPr>
          <p:cNvPr id="8" name="TextBox 7"/>
          <p:cNvSpPr txBox="1"/>
          <p:nvPr/>
        </p:nvSpPr>
        <p:spPr>
          <a:xfrm>
            <a:off x="548640" y="2505456"/>
            <a:ext cx="566928" cy="566928"/>
          </a:xfrm>
          <a:prstGeom prst="rect">
            <a:avLst/>
          </a:prstGeom>
          <a:noFill/>
        </p:spPr>
        <p:txBody>
          <a:bodyPr wrap="square" lIns="0" rIns="0" tIns="0" bIns="0" anchor="ctr">
            <a:spAutoFit/>
          </a:bodyPr>
          <a:lstStyle/>
          <a:p>
            <a:pPr algn="ctr"/>
            <a:r>
              <a:rPr sz="1800" b="1" i="0">
                <a:solidFill>
                  <a:srgbClr val="0F2E3D"/>
                </a:solidFill>
                <a:latin typeface="Calibri"/>
              </a:rPr>
              <a:t>2</a:t>
            </a:r>
          </a:p>
        </p:txBody>
      </p:sp>
      <p:sp>
        <p:nvSpPr>
          <p:cNvPr id="9" name="TextBox 8"/>
          <p:cNvSpPr txBox="1"/>
          <p:nvPr/>
        </p:nvSpPr>
        <p:spPr>
          <a:xfrm>
            <a:off x="1371600" y="2450591"/>
            <a:ext cx="10271455" cy="384048"/>
          </a:xfrm>
          <a:prstGeom prst="rect">
            <a:avLst/>
          </a:prstGeom>
          <a:noFill/>
        </p:spPr>
        <p:txBody>
          <a:bodyPr wrap="square" lIns="0" rIns="0" tIns="0" bIns="0" anchor="t">
            <a:spAutoFit/>
          </a:bodyPr>
          <a:lstStyle/>
          <a:p>
            <a:pPr algn="l"/>
            <a:r>
              <a:rPr sz="1800" b="1" i="0">
                <a:solidFill>
                  <a:srgbClr val="0F2E3D"/>
                </a:solidFill>
                <a:latin typeface="Calibri"/>
              </a:rPr>
              <a:t>“How many orders came from customers in the West region?”</a:t>
            </a:r>
          </a:p>
        </p:txBody>
      </p:sp>
      <p:sp>
        <p:nvSpPr>
          <p:cNvPr id="10" name="TextBox 9"/>
          <p:cNvSpPr txBox="1"/>
          <p:nvPr/>
        </p:nvSpPr>
        <p:spPr>
          <a:xfrm>
            <a:off x="1371600" y="2852927"/>
            <a:ext cx="10271455" cy="411480"/>
          </a:xfrm>
          <a:prstGeom prst="rect">
            <a:avLst/>
          </a:prstGeom>
          <a:noFill/>
        </p:spPr>
        <p:txBody>
          <a:bodyPr wrap="square" lIns="0" rIns="0" tIns="0" bIns="0" anchor="t">
            <a:spAutoFit/>
          </a:bodyPr>
          <a:lstStyle/>
          <a:p>
            <a:pPr algn="l"/>
            <a:r>
              <a:rPr sz="1400" b="0" i="0">
                <a:solidFill>
                  <a:srgbClr val="1A2B33"/>
                </a:solidFill>
                <a:latin typeface="Calibri"/>
              </a:rPr>
              <a:t>Shows the agent linking two files on its own. Expected answer: 11.</a:t>
            </a:r>
          </a:p>
        </p:txBody>
      </p:sp>
      <p:sp>
        <p:nvSpPr>
          <p:cNvPr id="11" name="Oval 10"/>
          <p:cNvSpPr/>
          <p:nvPr/>
        </p:nvSpPr>
        <p:spPr>
          <a:xfrm>
            <a:off x="548640" y="3447288"/>
            <a:ext cx="566928" cy="566928"/>
          </a:xfrm>
          <a:prstGeom prst="ellipse">
            <a:avLst/>
          </a:prstGeom>
          <a:solidFill>
            <a:srgbClr val="E39B2D"/>
          </a:solidFill>
          <a:ln>
            <a:noFill/>
          </a:ln>
        </p:spPr>
        <p:txBody>
          <a:bodyPr rtlCol="0" anchor="ctr"/>
          <a:lstStyle/>
          <a:p/>
        </p:txBody>
      </p:sp>
      <p:sp>
        <p:nvSpPr>
          <p:cNvPr id="12" name="TextBox 11"/>
          <p:cNvSpPr txBox="1"/>
          <p:nvPr/>
        </p:nvSpPr>
        <p:spPr>
          <a:xfrm>
            <a:off x="548640" y="3447288"/>
            <a:ext cx="566928" cy="566928"/>
          </a:xfrm>
          <a:prstGeom prst="rect">
            <a:avLst/>
          </a:prstGeom>
          <a:noFill/>
        </p:spPr>
        <p:txBody>
          <a:bodyPr wrap="square" lIns="0" rIns="0" tIns="0" bIns="0" anchor="ctr">
            <a:spAutoFit/>
          </a:bodyPr>
          <a:lstStyle/>
          <a:p>
            <a:pPr algn="ctr"/>
            <a:r>
              <a:rPr sz="1800" b="1" i="0">
                <a:solidFill>
                  <a:srgbClr val="0F2E3D"/>
                </a:solidFill>
                <a:latin typeface="Calibri"/>
              </a:rPr>
              <a:t>3</a:t>
            </a:r>
          </a:p>
        </p:txBody>
      </p:sp>
      <p:sp>
        <p:nvSpPr>
          <p:cNvPr id="13" name="TextBox 12"/>
          <p:cNvSpPr txBox="1"/>
          <p:nvPr/>
        </p:nvSpPr>
        <p:spPr>
          <a:xfrm>
            <a:off x="1371600" y="3392424"/>
            <a:ext cx="10271455" cy="384048"/>
          </a:xfrm>
          <a:prstGeom prst="rect">
            <a:avLst/>
          </a:prstGeom>
          <a:noFill/>
        </p:spPr>
        <p:txBody>
          <a:bodyPr wrap="square" lIns="0" rIns="0" tIns="0" bIns="0" anchor="t">
            <a:spAutoFit/>
          </a:bodyPr>
          <a:lstStyle/>
          <a:p>
            <a:pPr algn="l"/>
            <a:r>
              <a:rPr sz="1800" b="1" i="0">
                <a:solidFill>
                  <a:srgbClr val="0F2E3D"/>
                </a:solidFill>
                <a:latin typeface="Calibri"/>
              </a:rPr>
              <a:t>“What is the best-selling product?”</a:t>
            </a:r>
          </a:p>
        </p:txBody>
      </p:sp>
      <p:sp>
        <p:nvSpPr>
          <p:cNvPr id="14" name="TextBox 13"/>
          <p:cNvSpPr txBox="1"/>
          <p:nvPr/>
        </p:nvSpPr>
        <p:spPr>
          <a:xfrm>
            <a:off x="1371600" y="3794760"/>
            <a:ext cx="10271455" cy="411480"/>
          </a:xfrm>
          <a:prstGeom prst="rect">
            <a:avLst/>
          </a:prstGeom>
          <a:noFill/>
        </p:spPr>
        <p:txBody>
          <a:bodyPr wrap="square" lIns="0" rIns="0" tIns="0" bIns="0" anchor="t">
            <a:spAutoFit/>
          </a:bodyPr>
          <a:lstStyle/>
          <a:p>
            <a:pPr algn="l"/>
            <a:r>
              <a:rPr sz="1400" b="0" i="0">
                <a:solidFill>
                  <a:srgbClr val="1A2B33"/>
                </a:solidFill>
                <a:latin typeface="Calibri"/>
              </a:rPr>
              <a:t>Ambiguous: by units or by revenue? Watch the planner try competing interpretations.</a:t>
            </a:r>
          </a:p>
        </p:txBody>
      </p:sp>
      <p:sp>
        <p:nvSpPr>
          <p:cNvPr id="15" name="Oval 14"/>
          <p:cNvSpPr/>
          <p:nvPr/>
        </p:nvSpPr>
        <p:spPr>
          <a:xfrm>
            <a:off x="548640" y="4389120"/>
            <a:ext cx="566928" cy="566928"/>
          </a:xfrm>
          <a:prstGeom prst="ellipse">
            <a:avLst/>
          </a:prstGeom>
          <a:solidFill>
            <a:srgbClr val="E8F0F1"/>
          </a:solidFill>
          <a:ln>
            <a:noFill/>
          </a:ln>
        </p:spPr>
        <p:txBody>
          <a:bodyPr rtlCol="0" anchor="ctr"/>
          <a:lstStyle/>
          <a:p/>
        </p:txBody>
      </p:sp>
      <p:sp>
        <p:nvSpPr>
          <p:cNvPr id="16" name="TextBox 15"/>
          <p:cNvSpPr txBox="1"/>
          <p:nvPr/>
        </p:nvSpPr>
        <p:spPr>
          <a:xfrm>
            <a:off x="548640" y="4389120"/>
            <a:ext cx="566928" cy="566928"/>
          </a:xfrm>
          <a:prstGeom prst="rect">
            <a:avLst/>
          </a:prstGeom>
          <a:noFill/>
        </p:spPr>
        <p:txBody>
          <a:bodyPr wrap="square" lIns="0" rIns="0" tIns="0" bIns="0" anchor="ctr">
            <a:spAutoFit/>
          </a:bodyPr>
          <a:lstStyle/>
          <a:p>
            <a:pPr algn="ctr"/>
            <a:r>
              <a:rPr sz="1800" b="1" i="0">
                <a:solidFill>
                  <a:srgbClr val="0F2E3D"/>
                </a:solidFill>
                <a:latin typeface="Calibri"/>
              </a:rPr>
              <a:t>4</a:t>
            </a:r>
          </a:p>
        </p:txBody>
      </p:sp>
      <p:sp>
        <p:nvSpPr>
          <p:cNvPr id="17" name="TextBox 16"/>
          <p:cNvSpPr txBox="1"/>
          <p:nvPr/>
        </p:nvSpPr>
        <p:spPr>
          <a:xfrm>
            <a:off x="1371600" y="4334256"/>
            <a:ext cx="10271455" cy="384048"/>
          </a:xfrm>
          <a:prstGeom prst="rect">
            <a:avLst/>
          </a:prstGeom>
          <a:noFill/>
        </p:spPr>
        <p:txBody>
          <a:bodyPr wrap="square" lIns="0" rIns="0" tIns="0" bIns="0" anchor="t">
            <a:spAutoFit/>
          </a:bodyPr>
          <a:lstStyle/>
          <a:p>
            <a:pPr algn="l"/>
            <a:r>
              <a:rPr sz="1800" b="1" i="0">
                <a:solidFill>
                  <a:srgbClr val="0F2E3D"/>
                </a:solidFill>
                <a:latin typeface="Calibri"/>
              </a:rPr>
              <a:t>Ask a follow-up question</a:t>
            </a:r>
          </a:p>
        </p:txBody>
      </p:sp>
      <p:sp>
        <p:nvSpPr>
          <p:cNvPr id="18" name="TextBox 17"/>
          <p:cNvSpPr txBox="1"/>
          <p:nvPr/>
        </p:nvSpPr>
        <p:spPr>
          <a:xfrm>
            <a:off x="1371600" y="4736592"/>
            <a:ext cx="10271455" cy="411480"/>
          </a:xfrm>
          <a:prstGeom prst="rect">
            <a:avLst/>
          </a:prstGeom>
          <a:noFill/>
        </p:spPr>
        <p:txBody>
          <a:bodyPr wrap="square" lIns="0" rIns="0" tIns="0" bIns="0" anchor="t">
            <a:spAutoFit/>
          </a:bodyPr>
          <a:lstStyle/>
          <a:p>
            <a:pPr algn="l"/>
            <a:r>
              <a:rPr sz="1400" b="0" i="0">
                <a:solidFill>
                  <a:srgbClr val="1A2B33"/>
                </a:solidFill>
                <a:latin typeface="Calibri"/>
              </a:rPr>
              <a:t>Shows session memory and the consistency check against the earlier answer.</a:t>
            </a:r>
          </a:p>
        </p:txBody>
      </p:sp>
      <p:sp>
        <p:nvSpPr>
          <p:cNvPr id="19" name="Oval 18"/>
          <p:cNvSpPr/>
          <p:nvPr/>
        </p:nvSpPr>
        <p:spPr>
          <a:xfrm>
            <a:off x="548640" y="5330951"/>
            <a:ext cx="566928" cy="566928"/>
          </a:xfrm>
          <a:prstGeom prst="ellipse">
            <a:avLst/>
          </a:prstGeom>
          <a:solidFill>
            <a:srgbClr val="E8F0F1"/>
          </a:solidFill>
          <a:ln>
            <a:noFill/>
          </a:ln>
        </p:spPr>
        <p:txBody>
          <a:bodyPr rtlCol="0" anchor="ctr"/>
          <a:lstStyle/>
          <a:p/>
        </p:txBody>
      </p:sp>
      <p:sp>
        <p:nvSpPr>
          <p:cNvPr id="20" name="TextBox 19"/>
          <p:cNvSpPr txBox="1"/>
          <p:nvPr/>
        </p:nvSpPr>
        <p:spPr>
          <a:xfrm>
            <a:off x="548640" y="5330951"/>
            <a:ext cx="566928" cy="566928"/>
          </a:xfrm>
          <a:prstGeom prst="rect">
            <a:avLst/>
          </a:prstGeom>
          <a:noFill/>
        </p:spPr>
        <p:txBody>
          <a:bodyPr wrap="square" lIns="0" rIns="0" tIns="0" bIns="0" anchor="ctr">
            <a:spAutoFit/>
          </a:bodyPr>
          <a:lstStyle/>
          <a:p>
            <a:pPr algn="ctr"/>
            <a:r>
              <a:rPr sz="1800" b="1" i="0">
                <a:solidFill>
                  <a:srgbClr val="0F2E3D"/>
                </a:solidFill>
                <a:latin typeface="Calibri"/>
              </a:rPr>
              <a:t>5</a:t>
            </a:r>
          </a:p>
        </p:txBody>
      </p:sp>
      <p:sp>
        <p:nvSpPr>
          <p:cNvPr id="21" name="TextBox 20"/>
          <p:cNvSpPr txBox="1"/>
          <p:nvPr/>
        </p:nvSpPr>
        <p:spPr>
          <a:xfrm>
            <a:off x="1371600" y="5276088"/>
            <a:ext cx="10271455" cy="384048"/>
          </a:xfrm>
          <a:prstGeom prst="rect">
            <a:avLst/>
          </a:prstGeom>
          <a:noFill/>
        </p:spPr>
        <p:txBody>
          <a:bodyPr wrap="square" lIns="0" rIns="0" tIns="0" bIns="0" anchor="t">
            <a:spAutoFit/>
          </a:bodyPr>
          <a:lstStyle/>
          <a:p>
            <a:pPr algn="l"/>
            <a:r>
              <a:rPr sz="1800" b="1" i="0">
                <a:solidFill>
                  <a:srgbClr val="0F2E3D"/>
                </a:solidFill>
                <a:latin typeface="Calibri"/>
              </a:rPr>
              <a:t>Open the Operations tab</a:t>
            </a:r>
          </a:p>
        </p:txBody>
      </p:sp>
      <p:sp>
        <p:nvSpPr>
          <p:cNvPr id="22" name="TextBox 21"/>
          <p:cNvSpPr txBox="1"/>
          <p:nvPr/>
        </p:nvSpPr>
        <p:spPr>
          <a:xfrm>
            <a:off x="1371600" y="5678424"/>
            <a:ext cx="10271455" cy="411480"/>
          </a:xfrm>
          <a:prstGeom prst="rect">
            <a:avLst/>
          </a:prstGeom>
          <a:noFill/>
        </p:spPr>
        <p:txBody>
          <a:bodyPr wrap="square" lIns="0" rIns="0" tIns="0" bIns="0" anchor="t">
            <a:spAutoFit/>
          </a:bodyPr>
          <a:lstStyle/>
          <a:p>
            <a:pPr algn="l"/>
            <a:r>
              <a:rPr sz="1400" b="0" i="0">
                <a:solidFill>
                  <a:srgbClr val="1A2B33"/>
                </a:solidFill>
                <a:latin typeface="Calibri"/>
              </a:rPr>
              <a:t>Model status, sandbox health, review queue and token use in one view.</a:t>
            </a:r>
          </a:p>
        </p:txBody>
      </p:sp>
      <p:sp>
        <p:nvSpPr>
          <p:cNvPr id="23" name="Footer"/>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5C6E76"/>
                </a:solidFill>
                <a:latin typeface="Calibri"/>
              </a:rPr>
              <a:t>Capstone · Autonomous Data-Analysis Agent</a:t>
            </a:r>
          </a:p>
        </p:txBody>
      </p:sp>
      <p:sp>
        <p:nvSpPr>
          <p:cNvPr id="24" name="Slide number"/>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5C6E7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94415" cy="777240"/>
          </a:xfrm>
          <a:prstGeom prst="rect">
            <a:avLst/>
          </a:prstGeom>
          <a:noFill/>
        </p:spPr>
        <p:txBody>
          <a:bodyPr wrap="square" lIns="0" rIns="0" tIns="0" bIns="0" anchor="ctr">
            <a:spAutoFit/>
          </a:bodyPr>
          <a:lstStyle/>
          <a:p>
            <a:pPr algn="l"/>
            <a:r>
              <a:rPr sz="3400" b="1" i="0">
                <a:solidFill>
                  <a:srgbClr val="0F2E3D"/>
                </a:solidFill>
                <a:latin typeface="Cambria"/>
              </a:rPr>
              <a:t>7 of 7 benchmark questions answered correctly</a:t>
            </a:r>
          </a:p>
        </p:txBody>
      </p:sp>
      <p:sp>
        <p:nvSpPr>
          <p:cNvPr id="3" name="Rounded Rectangle 2"/>
          <p:cNvSpPr/>
          <p:nvPr/>
        </p:nvSpPr>
        <p:spPr>
          <a:xfrm>
            <a:off x="548640" y="1600200"/>
            <a:ext cx="3931920" cy="1828800"/>
          </a:xfrm>
          <a:prstGeom prst="roundRect">
            <a:avLst>
              <a:gd name="adj" fmla="val 6000"/>
            </a:avLst>
          </a:prstGeom>
          <a:solidFill>
            <a:srgbClr val="E8F0F1"/>
          </a:solidFill>
          <a:ln>
            <a:noFill/>
          </a:ln>
        </p:spPr>
        <p:txBody>
          <a:bodyPr rtlCol="0" anchor="ctr"/>
          <a:lstStyle/>
          <a:p/>
        </p:txBody>
      </p:sp>
      <p:sp>
        <p:nvSpPr>
          <p:cNvPr id="4" name="TextBox 3"/>
          <p:cNvSpPr txBox="1"/>
          <p:nvPr/>
        </p:nvSpPr>
        <p:spPr>
          <a:xfrm>
            <a:off x="868680" y="1783080"/>
            <a:ext cx="3291840" cy="914400"/>
          </a:xfrm>
          <a:prstGeom prst="rect">
            <a:avLst/>
          </a:prstGeom>
          <a:noFill/>
        </p:spPr>
        <p:txBody>
          <a:bodyPr wrap="square" lIns="0" rIns="0" tIns="0" bIns="0" anchor="t">
            <a:spAutoFit/>
          </a:bodyPr>
          <a:lstStyle/>
          <a:p>
            <a:pPr algn="l"/>
            <a:r>
              <a:rPr sz="4800" b="1" i="0">
                <a:solidFill>
                  <a:srgbClr val="0F2E3D"/>
                </a:solidFill>
                <a:latin typeface="Cambria"/>
              </a:rPr>
              <a:t>24 / 24</a:t>
            </a:r>
          </a:p>
        </p:txBody>
      </p:sp>
      <p:sp>
        <p:nvSpPr>
          <p:cNvPr id="5" name="TextBox 4"/>
          <p:cNvSpPr txBox="1"/>
          <p:nvPr/>
        </p:nvSpPr>
        <p:spPr>
          <a:xfrm>
            <a:off x="868680" y="2651760"/>
            <a:ext cx="3291840" cy="731520"/>
          </a:xfrm>
          <a:prstGeom prst="rect">
            <a:avLst/>
          </a:prstGeom>
          <a:noFill/>
        </p:spPr>
        <p:txBody>
          <a:bodyPr wrap="square" lIns="0" rIns="0" tIns="0" bIns="0" anchor="t">
            <a:spAutoFit/>
          </a:bodyPr>
          <a:lstStyle/>
          <a:p>
            <a:pPr algn="l"/>
            <a:r>
              <a:rPr sz="1400" b="0" i="0">
                <a:solidFill>
                  <a:srgbClr val="1A2B33"/>
                </a:solidFill>
                <a:latin typeface="Calibri"/>
              </a:rPr>
              <a:t>automated tests passing, including the real sandbox process and timeout kill</a:t>
            </a:r>
          </a:p>
        </p:txBody>
      </p:sp>
      <p:sp>
        <p:nvSpPr>
          <p:cNvPr id="6" name="Rounded Rectangle 5"/>
          <p:cNvSpPr/>
          <p:nvPr/>
        </p:nvSpPr>
        <p:spPr>
          <a:xfrm>
            <a:off x="548640" y="3657600"/>
            <a:ext cx="3931920" cy="1828800"/>
          </a:xfrm>
          <a:prstGeom prst="roundRect">
            <a:avLst>
              <a:gd name="adj" fmla="val 6000"/>
            </a:avLst>
          </a:prstGeom>
          <a:solidFill>
            <a:srgbClr val="E8F0F1"/>
          </a:solidFill>
          <a:ln>
            <a:noFill/>
          </a:ln>
        </p:spPr>
        <p:txBody>
          <a:bodyPr rtlCol="0" anchor="ctr"/>
          <a:lstStyle/>
          <a:p/>
        </p:txBody>
      </p:sp>
      <p:sp>
        <p:nvSpPr>
          <p:cNvPr id="7" name="TextBox 6"/>
          <p:cNvSpPr txBox="1"/>
          <p:nvPr/>
        </p:nvSpPr>
        <p:spPr>
          <a:xfrm>
            <a:off x="868680" y="3840480"/>
            <a:ext cx="3291840" cy="914400"/>
          </a:xfrm>
          <a:prstGeom prst="rect">
            <a:avLst/>
          </a:prstGeom>
          <a:noFill/>
        </p:spPr>
        <p:txBody>
          <a:bodyPr wrap="square" lIns="0" rIns="0" tIns="0" bIns="0" anchor="t">
            <a:spAutoFit/>
          </a:bodyPr>
          <a:lstStyle/>
          <a:p>
            <a:pPr algn="l"/>
            <a:r>
              <a:rPr sz="4800" b="1" i="0">
                <a:solidFill>
                  <a:srgbClr val="0F2E3D"/>
                </a:solidFill>
                <a:latin typeface="Cambria"/>
              </a:rPr>
              <a:t>100%</a:t>
            </a:r>
          </a:p>
        </p:txBody>
      </p:sp>
      <p:sp>
        <p:nvSpPr>
          <p:cNvPr id="8" name="TextBox 7"/>
          <p:cNvSpPr txBox="1"/>
          <p:nvPr/>
        </p:nvSpPr>
        <p:spPr>
          <a:xfrm>
            <a:off x="868680" y="4709160"/>
            <a:ext cx="3291840" cy="731520"/>
          </a:xfrm>
          <a:prstGeom prst="rect">
            <a:avLst/>
          </a:prstGeom>
          <a:noFill/>
        </p:spPr>
        <p:txBody>
          <a:bodyPr wrap="square" lIns="0" rIns="0" tIns="0" bIns="0" anchor="t">
            <a:spAutoFit/>
          </a:bodyPr>
          <a:lstStyle/>
          <a:p>
            <a:pPr algn="l"/>
            <a:r>
              <a:rPr sz="1400" b="0" i="0">
                <a:solidFill>
                  <a:srgbClr val="1A2B33"/>
                </a:solidFill>
                <a:latin typeface="Calibri"/>
              </a:rPr>
              <a:t>benchmark pass rate on 7 scored questions</a:t>
            </a:r>
          </a:p>
        </p:txBody>
      </p:sp>
      <p:sp>
        <p:nvSpPr>
          <p:cNvPr id="9" name="TextBox 8"/>
          <p:cNvSpPr txBox="1"/>
          <p:nvPr/>
        </p:nvSpPr>
        <p:spPr>
          <a:xfrm>
            <a:off x="5029200" y="1600200"/>
            <a:ext cx="6613855" cy="320040"/>
          </a:xfrm>
          <a:prstGeom prst="rect">
            <a:avLst/>
          </a:prstGeom>
          <a:noFill/>
        </p:spPr>
        <p:txBody>
          <a:bodyPr wrap="square" lIns="0" rIns="0" tIns="0" bIns="0" anchor="t">
            <a:spAutoFit/>
          </a:bodyPr>
          <a:lstStyle/>
          <a:p>
            <a:pPr algn="l"/>
            <a:r>
              <a:rPr sz="1200" b="1" i="0" spc="200">
                <a:solidFill>
                  <a:srgbClr val="5C6E76"/>
                </a:solidFill>
                <a:latin typeface="Calibri"/>
              </a:rPr>
              <a:t>BENCHMARK BY CATEGORY</a:t>
            </a:r>
          </a:p>
        </p:txBody>
      </p:sp>
      <p:sp>
        <p:nvSpPr>
          <p:cNvPr id="10" name="TextBox 9"/>
          <p:cNvSpPr txBox="1"/>
          <p:nvPr/>
        </p:nvSpPr>
        <p:spPr>
          <a:xfrm>
            <a:off x="5029200" y="1965960"/>
            <a:ext cx="1737360" cy="402336"/>
          </a:xfrm>
          <a:prstGeom prst="rect">
            <a:avLst/>
          </a:prstGeom>
          <a:noFill/>
        </p:spPr>
        <p:txBody>
          <a:bodyPr wrap="square" lIns="0" rIns="0" tIns="0" bIns="0" anchor="ctr">
            <a:spAutoFit/>
          </a:bodyPr>
          <a:lstStyle/>
          <a:p>
            <a:pPr algn="l"/>
            <a:r>
              <a:rPr sz="1300" b="0" i="0">
                <a:solidFill>
                  <a:srgbClr val="1A2B33"/>
                </a:solidFill>
                <a:latin typeface="Calibri"/>
              </a:rPr>
              <a:t>aggregation</a:t>
            </a:r>
          </a:p>
        </p:txBody>
      </p:sp>
      <p:sp>
        <p:nvSpPr>
          <p:cNvPr id="11" name="Rounded Rectangle 10"/>
          <p:cNvSpPr/>
          <p:nvPr/>
        </p:nvSpPr>
        <p:spPr>
          <a:xfrm>
            <a:off x="6858000" y="2020824"/>
            <a:ext cx="868680" cy="292608"/>
          </a:xfrm>
          <a:prstGeom prst="roundRect">
            <a:avLst>
              <a:gd name="adj" fmla="val 12000"/>
            </a:avLst>
          </a:prstGeom>
          <a:solidFill>
            <a:srgbClr val="1F6F78"/>
          </a:solidFill>
          <a:ln>
            <a:noFill/>
          </a:ln>
        </p:spPr>
        <p:txBody>
          <a:bodyPr rtlCol="0" anchor="ctr"/>
          <a:lstStyle/>
          <a:p/>
        </p:txBody>
      </p:sp>
      <p:sp>
        <p:nvSpPr>
          <p:cNvPr id="12" name="TextBox 11"/>
          <p:cNvSpPr txBox="1"/>
          <p:nvPr/>
        </p:nvSpPr>
        <p:spPr>
          <a:xfrm>
            <a:off x="6858000" y="2020824"/>
            <a:ext cx="868680" cy="292608"/>
          </a:xfrm>
          <a:prstGeom prst="rect">
            <a:avLst/>
          </a:prstGeom>
          <a:noFill/>
        </p:spPr>
        <p:txBody>
          <a:bodyPr wrap="square" lIns="0" rIns="0" tIns="0" bIns="0" anchor="ctr">
            <a:spAutoFit/>
          </a:bodyPr>
          <a:lstStyle/>
          <a:p>
            <a:pPr algn="ctr"/>
            <a:r>
              <a:rPr sz="1200" b="1" i="0">
                <a:solidFill>
                  <a:srgbClr val="FFFFFF"/>
                </a:solidFill>
                <a:latin typeface="Calibri"/>
              </a:rPr>
              <a:t>pass</a:t>
            </a:r>
          </a:p>
        </p:txBody>
      </p:sp>
      <p:sp>
        <p:nvSpPr>
          <p:cNvPr id="13" name="TextBox 12"/>
          <p:cNvSpPr txBox="1"/>
          <p:nvPr/>
        </p:nvSpPr>
        <p:spPr>
          <a:xfrm>
            <a:off x="7909560" y="1965960"/>
            <a:ext cx="3733495" cy="402336"/>
          </a:xfrm>
          <a:prstGeom prst="rect">
            <a:avLst/>
          </a:prstGeom>
          <a:noFill/>
        </p:spPr>
        <p:txBody>
          <a:bodyPr wrap="square" lIns="0" rIns="0" tIns="0" bIns="0" anchor="ctr">
            <a:spAutoFit/>
          </a:bodyPr>
          <a:lstStyle/>
          <a:p>
            <a:pPr algn="l"/>
            <a:r>
              <a:rPr sz="1200" b="0" i="0">
                <a:solidFill>
                  <a:srgbClr val="5C6E76"/>
                </a:solidFill>
                <a:latin typeface="Calibri"/>
              </a:rPr>
              <a:t>Total number of orders</a:t>
            </a:r>
          </a:p>
        </p:txBody>
      </p:sp>
      <p:sp>
        <p:nvSpPr>
          <p:cNvPr id="14" name="TextBox 13"/>
          <p:cNvSpPr txBox="1"/>
          <p:nvPr/>
        </p:nvSpPr>
        <p:spPr>
          <a:xfrm>
            <a:off x="5029200" y="2441448"/>
            <a:ext cx="1737360" cy="402336"/>
          </a:xfrm>
          <a:prstGeom prst="rect">
            <a:avLst/>
          </a:prstGeom>
          <a:noFill/>
        </p:spPr>
        <p:txBody>
          <a:bodyPr wrap="square" lIns="0" rIns="0" tIns="0" bIns="0" anchor="ctr">
            <a:spAutoFit/>
          </a:bodyPr>
          <a:lstStyle/>
          <a:p>
            <a:pPr algn="l"/>
            <a:r>
              <a:rPr sz="1300" b="0" i="0">
                <a:solidFill>
                  <a:srgbClr val="1A2B33"/>
                </a:solidFill>
                <a:latin typeface="Calibri"/>
              </a:rPr>
              <a:t>aggregation</a:t>
            </a:r>
          </a:p>
        </p:txBody>
      </p:sp>
      <p:sp>
        <p:nvSpPr>
          <p:cNvPr id="15" name="Rounded Rectangle 14"/>
          <p:cNvSpPr/>
          <p:nvPr/>
        </p:nvSpPr>
        <p:spPr>
          <a:xfrm>
            <a:off x="6858000" y="2496312"/>
            <a:ext cx="868680" cy="292608"/>
          </a:xfrm>
          <a:prstGeom prst="roundRect">
            <a:avLst>
              <a:gd name="adj" fmla="val 12000"/>
            </a:avLst>
          </a:prstGeom>
          <a:solidFill>
            <a:srgbClr val="1F6F78"/>
          </a:solidFill>
          <a:ln>
            <a:noFill/>
          </a:ln>
        </p:spPr>
        <p:txBody>
          <a:bodyPr rtlCol="0" anchor="ctr"/>
          <a:lstStyle/>
          <a:p/>
        </p:txBody>
      </p:sp>
      <p:sp>
        <p:nvSpPr>
          <p:cNvPr id="16" name="TextBox 15"/>
          <p:cNvSpPr txBox="1"/>
          <p:nvPr/>
        </p:nvSpPr>
        <p:spPr>
          <a:xfrm>
            <a:off x="6858000" y="2496312"/>
            <a:ext cx="868680" cy="292608"/>
          </a:xfrm>
          <a:prstGeom prst="rect">
            <a:avLst/>
          </a:prstGeom>
          <a:noFill/>
        </p:spPr>
        <p:txBody>
          <a:bodyPr wrap="square" lIns="0" rIns="0" tIns="0" bIns="0" anchor="ctr">
            <a:spAutoFit/>
          </a:bodyPr>
          <a:lstStyle/>
          <a:p>
            <a:pPr algn="ctr"/>
            <a:r>
              <a:rPr sz="1200" b="1" i="0">
                <a:solidFill>
                  <a:srgbClr val="FFFFFF"/>
                </a:solidFill>
                <a:latin typeface="Calibri"/>
              </a:rPr>
              <a:t>pass</a:t>
            </a:r>
          </a:p>
        </p:txBody>
      </p:sp>
      <p:sp>
        <p:nvSpPr>
          <p:cNvPr id="17" name="TextBox 16"/>
          <p:cNvSpPr txBox="1"/>
          <p:nvPr/>
        </p:nvSpPr>
        <p:spPr>
          <a:xfrm>
            <a:off x="7909560" y="2441448"/>
            <a:ext cx="3733495" cy="402336"/>
          </a:xfrm>
          <a:prstGeom prst="rect">
            <a:avLst/>
          </a:prstGeom>
          <a:noFill/>
        </p:spPr>
        <p:txBody>
          <a:bodyPr wrap="square" lIns="0" rIns="0" tIns="0" bIns="0" anchor="ctr">
            <a:spAutoFit/>
          </a:bodyPr>
          <a:lstStyle/>
          <a:p>
            <a:pPr algn="l"/>
            <a:r>
              <a:rPr sz="1200" b="0" i="0">
                <a:solidFill>
                  <a:srgbClr val="5C6E76"/>
                </a:solidFill>
                <a:latin typeface="Calibri"/>
              </a:rPr>
              <a:t>Total quantity sold</a:t>
            </a:r>
          </a:p>
        </p:txBody>
      </p:sp>
      <p:sp>
        <p:nvSpPr>
          <p:cNvPr id="18" name="TextBox 17"/>
          <p:cNvSpPr txBox="1"/>
          <p:nvPr/>
        </p:nvSpPr>
        <p:spPr>
          <a:xfrm>
            <a:off x="5029200" y="2916936"/>
            <a:ext cx="1737360" cy="402336"/>
          </a:xfrm>
          <a:prstGeom prst="rect">
            <a:avLst/>
          </a:prstGeom>
          <a:noFill/>
        </p:spPr>
        <p:txBody>
          <a:bodyPr wrap="square" lIns="0" rIns="0" tIns="0" bIns="0" anchor="ctr">
            <a:spAutoFit/>
          </a:bodyPr>
          <a:lstStyle/>
          <a:p>
            <a:pPr algn="l"/>
            <a:r>
              <a:rPr sz="1300" b="0" i="0">
                <a:solidFill>
                  <a:srgbClr val="1A2B33"/>
                </a:solidFill>
                <a:latin typeface="Calibri"/>
              </a:rPr>
              <a:t>filter</a:t>
            </a:r>
          </a:p>
        </p:txBody>
      </p:sp>
      <p:sp>
        <p:nvSpPr>
          <p:cNvPr id="19" name="Rounded Rectangle 18"/>
          <p:cNvSpPr/>
          <p:nvPr/>
        </p:nvSpPr>
        <p:spPr>
          <a:xfrm>
            <a:off x="6858000" y="2971800"/>
            <a:ext cx="868680" cy="292608"/>
          </a:xfrm>
          <a:prstGeom prst="roundRect">
            <a:avLst>
              <a:gd name="adj" fmla="val 12000"/>
            </a:avLst>
          </a:prstGeom>
          <a:solidFill>
            <a:srgbClr val="1F6F78"/>
          </a:solidFill>
          <a:ln>
            <a:noFill/>
          </a:ln>
        </p:spPr>
        <p:txBody>
          <a:bodyPr rtlCol="0" anchor="ctr"/>
          <a:lstStyle/>
          <a:p/>
        </p:txBody>
      </p:sp>
      <p:sp>
        <p:nvSpPr>
          <p:cNvPr id="20" name="TextBox 19"/>
          <p:cNvSpPr txBox="1"/>
          <p:nvPr/>
        </p:nvSpPr>
        <p:spPr>
          <a:xfrm>
            <a:off x="6858000" y="2971800"/>
            <a:ext cx="868680" cy="292608"/>
          </a:xfrm>
          <a:prstGeom prst="rect">
            <a:avLst/>
          </a:prstGeom>
          <a:noFill/>
        </p:spPr>
        <p:txBody>
          <a:bodyPr wrap="square" lIns="0" rIns="0" tIns="0" bIns="0" anchor="ctr">
            <a:spAutoFit/>
          </a:bodyPr>
          <a:lstStyle/>
          <a:p>
            <a:pPr algn="ctr"/>
            <a:r>
              <a:rPr sz="1200" b="1" i="0">
                <a:solidFill>
                  <a:srgbClr val="FFFFFF"/>
                </a:solidFill>
                <a:latin typeface="Calibri"/>
              </a:rPr>
              <a:t>pass</a:t>
            </a:r>
          </a:p>
        </p:txBody>
      </p:sp>
      <p:sp>
        <p:nvSpPr>
          <p:cNvPr id="21" name="TextBox 20"/>
          <p:cNvSpPr txBox="1"/>
          <p:nvPr/>
        </p:nvSpPr>
        <p:spPr>
          <a:xfrm>
            <a:off x="7909560" y="2916936"/>
            <a:ext cx="3733495" cy="402336"/>
          </a:xfrm>
          <a:prstGeom prst="rect">
            <a:avLst/>
          </a:prstGeom>
          <a:noFill/>
        </p:spPr>
        <p:txBody>
          <a:bodyPr wrap="square" lIns="0" rIns="0" tIns="0" bIns="0" anchor="ctr">
            <a:spAutoFit/>
          </a:bodyPr>
          <a:lstStyle/>
          <a:p>
            <a:pPr algn="l"/>
            <a:r>
              <a:rPr sz="1200" b="0" i="0">
                <a:solidFill>
                  <a:srgbClr val="5C6E76"/>
                </a:solidFill>
                <a:latin typeface="Calibri"/>
              </a:rPr>
              <a:t>Orders for Widget A</a:t>
            </a:r>
          </a:p>
        </p:txBody>
      </p:sp>
      <p:sp>
        <p:nvSpPr>
          <p:cNvPr id="22" name="TextBox 21"/>
          <p:cNvSpPr txBox="1"/>
          <p:nvPr/>
        </p:nvSpPr>
        <p:spPr>
          <a:xfrm>
            <a:off x="5029200" y="3392424"/>
            <a:ext cx="1737360" cy="402336"/>
          </a:xfrm>
          <a:prstGeom prst="rect">
            <a:avLst/>
          </a:prstGeom>
          <a:noFill/>
        </p:spPr>
        <p:txBody>
          <a:bodyPr wrap="square" lIns="0" rIns="0" tIns="0" bIns="0" anchor="ctr">
            <a:spAutoFit/>
          </a:bodyPr>
          <a:lstStyle/>
          <a:p>
            <a:pPr algn="l"/>
            <a:r>
              <a:rPr sz="1300" b="0" i="0">
                <a:solidFill>
                  <a:srgbClr val="1A2B33"/>
                </a:solidFill>
                <a:latin typeface="Calibri"/>
              </a:rPr>
              <a:t>join</a:t>
            </a:r>
          </a:p>
        </p:txBody>
      </p:sp>
      <p:sp>
        <p:nvSpPr>
          <p:cNvPr id="23" name="Rounded Rectangle 22"/>
          <p:cNvSpPr/>
          <p:nvPr/>
        </p:nvSpPr>
        <p:spPr>
          <a:xfrm>
            <a:off x="6858000" y="3447288"/>
            <a:ext cx="868680" cy="292608"/>
          </a:xfrm>
          <a:prstGeom prst="roundRect">
            <a:avLst>
              <a:gd name="adj" fmla="val 12000"/>
            </a:avLst>
          </a:prstGeom>
          <a:solidFill>
            <a:srgbClr val="1F6F78"/>
          </a:solidFill>
          <a:ln>
            <a:noFill/>
          </a:ln>
        </p:spPr>
        <p:txBody>
          <a:bodyPr rtlCol="0" anchor="ctr"/>
          <a:lstStyle/>
          <a:p/>
        </p:txBody>
      </p:sp>
      <p:sp>
        <p:nvSpPr>
          <p:cNvPr id="24" name="TextBox 23"/>
          <p:cNvSpPr txBox="1"/>
          <p:nvPr/>
        </p:nvSpPr>
        <p:spPr>
          <a:xfrm>
            <a:off x="6858000" y="3447288"/>
            <a:ext cx="868680" cy="292608"/>
          </a:xfrm>
          <a:prstGeom prst="rect">
            <a:avLst/>
          </a:prstGeom>
          <a:noFill/>
        </p:spPr>
        <p:txBody>
          <a:bodyPr wrap="square" lIns="0" rIns="0" tIns="0" bIns="0" anchor="ctr">
            <a:spAutoFit/>
          </a:bodyPr>
          <a:lstStyle/>
          <a:p>
            <a:pPr algn="ctr"/>
            <a:r>
              <a:rPr sz="1200" b="1" i="0">
                <a:solidFill>
                  <a:srgbClr val="FFFFFF"/>
                </a:solidFill>
                <a:latin typeface="Calibri"/>
              </a:rPr>
              <a:t>pass</a:t>
            </a:r>
          </a:p>
        </p:txBody>
      </p:sp>
      <p:sp>
        <p:nvSpPr>
          <p:cNvPr id="25" name="TextBox 24"/>
          <p:cNvSpPr txBox="1"/>
          <p:nvPr/>
        </p:nvSpPr>
        <p:spPr>
          <a:xfrm>
            <a:off x="7909560" y="3392424"/>
            <a:ext cx="3733495" cy="402336"/>
          </a:xfrm>
          <a:prstGeom prst="rect">
            <a:avLst/>
          </a:prstGeom>
          <a:noFill/>
        </p:spPr>
        <p:txBody>
          <a:bodyPr wrap="square" lIns="0" rIns="0" tIns="0" bIns="0" anchor="ctr">
            <a:spAutoFit/>
          </a:bodyPr>
          <a:lstStyle/>
          <a:p>
            <a:pPr algn="l"/>
            <a:r>
              <a:rPr sz="1200" b="0" i="0">
                <a:solidFill>
                  <a:srgbClr val="5C6E76"/>
                </a:solidFill>
                <a:latin typeface="Calibri"/>
              </a:rPr>
              <a:t>Orders from West-region customers</a:t>
            </a:r>
          </a:p>
        </p:txBody>
      </p:sp>
      <p:sp>
        <p:nvSpPr>
          <p:cNvPr id="26" name="TextBox 25"/>
          <p:cNvSpPr txBox="1"/>
          <p:nvPr/>
        </p:nvSpPr>
        <p:spPr>
          <a:xfrm>
            <a:off x="5029200" y="3867912"/>
            <a:ext cx="1737360" cy="402336"/>
          </a:xfrm>
          <a:prstGeom prst="rect">
            <a:avLst/>
          </a:prstGeom>
          <a:noFill/>
        </p:spPr>
        <p:txBody>
          <a:bodyPr wrap="square" lIns="0" rIns="0" tIns="0" bIns="0" anchor="ctr">
            <a:spAutoFit/>
          </a:bodyPr>
          <a:lstStyle/>
          <a:p>
            <a:pPr algn="l"/>
            <a:r>
              <a:rPr sz="1300" b="0" i="0">
                <a:solidFill>
                  <a:srgbClr val="1A2B33"/>
                </a:solidFill>
                <a:latin typeface="Calibri"/>
              </a:rPr>
              <a:t>time series</a:t>
            </a:r>
          </a:p>
        </p:txBody>
      </p:sp>
      <p:sp>
        <p:nvSpPr>
          <p:cNvPr id="27" name="Rounded Rectangle 26"/>
          <p:cNvSpPr/>
          <p:nvPr/>
        </p:nvSpPr>
        <p:spPr>
          <a:xfrm>
            <a:off x="6858000" y="3922776"/>
            <a:ext cx="868680" cy="292608"/>
          </a:xfrm>
          <a:prstGeom prst="roundRect">
            <a:avLst>
              <a:gd name="adj" fmla="val 12000"/>
            </a:avLst>
          </a:prstGeom>
          <a:solidFill>
            <a:srgbClr val="1F6F78"/>
          </a:solidFill>
          <a:ln>
            <a:noFill/>
          </a:ln>
        </p:spPr>
        <p:txBody>
          <a:bodyPr rtlCol="0" anchor="ctr"/>
          <a:lstStyle/>
          <a:p/>
        </p:txBody>
      </p:sp>
      <p:sp>
        <p:nvSpPr>
          <p:cNvPr id="28" name="TextBox 27"/>
          <p:cNvSpPr txBox="1"/>
          <p:nvPr/>
        </p:nvSpPr>
        <p:spPr>
          <a:xfrm>
            <a:off x="6858000" y="3922776"/>
            <a:ext cx="868680" cy="292608"/>
          </a:xfrm>
          <a:prstGeom prst="rect">
            <a:avLst/>
          </a:prstGeom>
          <a:noFill/>
        </p:spPr>
        <p:txBody>
          <a:bodyPr wrap="square" lIns="0" rIns="0" tIns="0" bIns="0" anchor="ctr">
            <a:spAutoFit/>
          </a:bodyPr>
          <a:lstStyle/>
          <a:p>
            <a:pPr algn="ctr"/>
            <a:r>
              <a:rPr sz="1200" b="1" i="0">
                <a:solidFill>
                  <a:srgbClr val="FFFFFF"/>
                </a:solidFill>
                <a:latin typeface="Calibri"/>
              </a:rPr>
              <a:t>pass</a:t>
            </a:r>
          </a:p>
        </p:txBody>
      </p:sp>
      <p:sp>
        <p:nvSpPr>
          <p:cNvPr id="29" name="TextBox 28"/>
          <p:cNvSpPr txBox="1"/>
          <p:nvPr/>
        </p:nvSpPr>
        <p:spPr>
          <a:xfrm>
            <a:off x="7909560" y="3867912"/>
            <a:ext cx="3733495" cy="402336"/>
          </a:xfrm>
          <a:prstGeom prst="rect">
            <a:avLst/>
          </a:prstGeom>
          <a:noFill/>
        </p:spPr>
        <p:txBody>
          <a:bodyPr wrap="square" lIns="0" rIns="0" tIns="0" bIns="0" anchor="ctr">
            <a:spAutoFit/>
          </a:bodyPr>
          <a:lstStyle/>
          <a:p>
            <a:pPr algn="l"/>
            <a:r>
              <a:rPr sz="1200" b="0" i="0">
                <a:solidFill>
                  <a:srgbClr val="5C6E76"/>
                </a:solidFill>
                <a:latin typeface="Calibri"/>
              </a:rPr>
              <a:t>Orders placed in Q1 2023</a:t>
            </a:r>
          </a:p>
        </p:txBody>
      </p:sp>
      <p:sp>
        <p:nvSpPr>
          <p:cNvPr id="30" name="TextBox 29"/>
          <p:cNvSpPr txBox="1"/>
          <p:nvPr/>
        </p:nvSpPr>
        <p:spPr>
          <a:xfrm>
            <a:off x="5029200" y="4343400"/>
            <a:ext cx="1737360" cy="402336"/>
          </a:xfrm>
          <a:prstGeom prst="rect">
            <a:avLst/>
          </a:prstGeom>
          <a:noFill/>
        </p:spPr>
        <p:txBody>
          <a:bodyPr wrap="square" lIns="0" rIns="0" tIns="0" bIns="0" anchor="ctr">
            <a:spAutoFit/>
          </a:bodyPr>
          <a:lstStyle/>
          <a:p>
            <a:pPr algn="l"/>
            <a:r>
              <a:rPr sz="1300" b="0" i="0">
                <a:solidFill>
                  <a:srgbClr val="1A2B33"/>
                </a:solidFill>
                <a:latin typeface="Calibri"/>
              </a:rPr>
              <a:t>ambiguous</a:t>
            </a:r>
          </a:p>
        </p:txBody>
      </p:sp>
      <p:sp>
        <p:nvSpPr>
          <p:cNvPr id="31" name="Rounded Rectangle 30"/>
          <p:cNvSpPr/>
          <p:nvPr/>
        </p:nvSpPr>
        <p:spPr>
          <a:xfrm>
            <a:off x="6858000" y="4398264"/>
            <a:ext cx="868680" cy="292608"/>
          </a:xfrm>
          <a:prstGeom prst="roundRect">
            <a:avLst>
              <a:gd name="adj" fmla="val 12000"/>
            </a:avLst>
          </a:prstGeom>
          <a:solidFill>
            <a:srgbClr val="E8F0F1"/>
          </a:solidFill>
          <a:ln>
            <a:noFill/>
          </a:ln>
        </p:spPr>
        <p:txBody>
          <a:bodyPr rtlCol="0" anchor="ctr"/>
          <a:lstStyle/>
          <a:p/>
        </p:txBody>
      </p:sp>
      <p:sp>
        <p:nvSpPr>
          <p:cNvPr id="32" name="TextBox 31"/>
          <p:cNvSpPr txBox="1"/>
          <p:nvPr/>
        </p:nvSpPr>
        <p:spPr>
          <a:xfrm>
            <a:off x="6858000" y="4398264"/>
            <a:ext cx="868680" cy="292608"/>
          </a:xfrm>
          <a:prstGeom prst="rect">
            <a:avLst/>
          </a:prstGeom>
          <a:noFill/>
        </p:spPr>
        <p:txBody>
          <a:bodyPr wrap="square" lIns="0" rIns="0" tIns="0" bIns="0" anchor="ctr">
            <a:spAutoFit/>
          </a:bodyPr>
          <a:lstStyle/>
          <a:p>
            <a:pPr algn="ctr"/>
            <a:r>
              <a:rPr sz="1200" b="1" i="0">
                <a:solidFill>
                  <a:srgbClr val="0F2E3D"/>
                </a:solidFill>
                <a:latin typeface="Calibri"/>
              </a:rPr>
              <a:t>degraded</a:t>
            </a:r>
          </a:p>
        </p:txBody>
      </p:sp>
      <p:sp>
        <p:nvSpPr>
          <p:cNvPr id="33" name="TextBox 32"/>
          <p:cNvSpPr txBox="1"/>
          <p:nvPr/>
        </p:nvSpPr>
        <p:spPr>
          <a:xfrm>
            <a:off x="7909560" y="4343400"/>
            <a:ext cx="3733495" cy="402336"/>
          </a:xfrm>
          <a:prstGeom prst="rect">
            <a:avLst/>
          </a:prstGeom>
          <a:noFill/>
        </p:spPr>
        <p:txBody>
          <a:bodyPr wrap="square" lIns="0" rIns="0" tIns="0" bIns="0" anchor="ctr">
            <a:spAutoFit/>
          </a:bodyPr>
          <a:lstStyle/>
          <a:p>
            <a:pPr algn="l"/>
            <a:r>
              <a:rPr sz="1200" b="0" i="0">
                <a:solidFill>
                  <a:srgbClr val="5C6E76"/>
                </a:solidFill>
                <a:latin typeface="Calibri"/>
              </a:rPr>
              <a:t>Best-selling product</a:t>
            </a:r>
          </a:p>
        </p:txBody>
      </p:sp>
      <p:sp>
        <p:nvSpPr>
          <p:cNvPr id="34" name="TextBox 33"/>
          <p:cNvSpPr txBox="1"/>
          <p:nvPr/>
        </p:nvSpPr>
        <p:spPr>
          <a:xfrm>
            <a:off x="5029200" y="4818888"/>
            <a:ext cx="1737360" cy="402336"/>
          </a:xfrm>
          <a:prstGeom prst="rect">
            <a:avLst/>
          </a:prstGeom>
          <a:noFill/>
        </p:spPr>
        <p:txBody>
          <a:bodyPr wrap="square" lIns="0" rIns="0" tIns="0" bIns="0" anchor="ctr">
            <a:spAutoFit/>
          </a:bodyPr>
          <a:lstStyle/>
          <a:p>
            <a:pPr algn="l"/>
            <a:r>
              <a:rPr sz="1300" b="0" i="0">
                <a:solidFill>
                  <a:srgbClr val="1A2B33"/>
                </a:solidFill>
                <a:latin typeface="Calibri"/>
              </a:rPr>
              <a:t>pii masked</a:t>
            </a:r>
          </a:p>
        </p:txBody>
      </p:sp>
      <p:sp>
        <p:nvSpPr>
          <p:cNvPr id="35" name="Rounded Rectangle 34"/>
          <p:cNvSpPr/>
          <p:nvPr/>
        </p:nvSpPr>
        <p:spPr>
          <a:xfrm>
            <a:off x="6858000" y="4873751"/>
            <a:ext cx="868680" cy="292608"/>
          </a:xfrm>
          <a:prstGeom prst="roundRect">
            <a:avLst>
              <a:gd name="adj" fmla="val 12000"/>
            </a:avLst>
          </a:prstGeom>
          <a:solidFill>
            <a:srgbClr val="1F6F78"/>
          </a:solidFill>
          <a:ln>
            <a:noFill/>
          </a:ln>
        </p:spPr>
        <p:txBody>
          <a:bodyPr rtlCol="0" anchor="ctr"/>
          <a:lstStyle/>
          <a:p/>
        </p:txBody>
      </p:sp>
      <p:sp>
        <p:nvSpPr>
          <p:cNvPr id="36" name="TextBox 35"/>
          <p:cNvSpPr txBox="1"/>
          <p:nvPr/>
        </p:nvSpPr>
        <p:spPr>
          <a:xfrm>
            <a:off x="6858000" y="4873751"/>
            <a:ext cx="868680" cy="292608"/>
          </a:xfrm>
          <a:prstGeom prst="rect">
            <a:avLst/>
          </a:prstGeom>
          <a:noFill/>
        </p:spPr>
        <p:txBody>
          <a:bodyPr wrap="square" lIns="0" rIns="0" tIns="0" bIns="0" anchor="ctr">
            <a:spAutoFit/>
          </a:bodyPr>
          <a:lstStyle/>
          <a:p>
            <a:pPr algn="ctr"/>
            <a:r>
              <a:rPr sz="1200" b="1" i="0">
                <a:solidFill>
                  <a:srgbClr val="FFFFFF"/>
                </a:solidFill>
                <a:latin typeface="Calibri"/>
              </a:rPr>
              <a:t>pass</a:t>
            </a:r>
          </a:p>
        </p:txBody>
      </p:sp>
      <p:sp>
        <p:nvSpPr>
          <p:cNvPr id="37" name="TextBox 36"/>
          <p:cNvSpPr txBox="1"/>
          <p:nvPr/>
        </p:nvSpPr>
        <p:spPr>
          <a:xfrm>
            <a:off x="7909560" y="4818888"/>
            <a:ext cx="3733495" cy="402336"/>
          </a:xfrm>
          <a:prstGeom prst="rect">
            <a:avLst/>
          </a:prstGeom>
          <a:noFill/>
        </p:spPr>
        <p:txBody>
          <a:bodyPr wrap="square" lIns="0" rIns="0" tIns="0" bIns="0" anchor="ctr">
            <a:spAutoFit/>
          </a:bodyPr>
          <a:lstStyle/>
          <a:p>
            <a:pPr algn="l"/>
            <a:r>
              <a:rPr sz="1200" b="0" i="0">
                <a:solidFill>
                  <a:srgbClr val="5C6E76"/>
                </a:solidFill>
                <a:latin typeface="Calibri"/>
              </a:rPr>
              <a:t>Unique customer regions</a:t>
            </a:r>
          </a:p>
        </p:txBody>
      </p:sp>
      <p:sp>
        <p:nvSpPr>
          <p:cNvPr id="38" name="TextBox 37"/>
          <p:cNvSpPr txBox="1"/>
          <p:nvPr/>
        </p:nvSpPr>
        <p:spPr>
          <a:xfrm>
            <a:off x="5029200" y="5294376"/>
            <a:ext cx="1737360" cy="402336"/>
          </a:xfrm>
          <a:prstGeom prst="rect">
            <a:avLst/>
          </a:prstGeom>
          <a:noFill/>
        </p:spPr>
        <p:txBody>
          <a:bodyPr wrap="square" lIns="0" rIns="0" tIns="0" bIns="0" anchor="ctr">
            <a:spAutoFit/>
          </a:bodyPr>
          <a:lstStyle/>
          <a:p>
            <a:pPr algn="l"/>
            <a:r>
              <a:rPr sz="1300" b="0" i="0">
                <a:solidFill>
                  <a:srgbClr val="1A2B33"/>
                </a:solidFill>
                <a:latin typeface="Calibri"/>
              </a:rPr>
              <a:t>large data</a:t>
            </a:r>
          </a:p>
        </p:txBody>
      </p:sp>
      <p:sp>
        <p:nvSpPr>
          <p:cNvPr id="39" name="Rounded Rectangle 38"/>
          <p:cNvSpPr/>
          <p:nvPr/>
        </p:nvSpPr>
        <p:spPr>
          <a:xfrm>
            <a:off x="6858000" y="5349240"/>
            <a:ext cx="868680" cy="292608"/>
          </a:xfrm>
          <a:prstGeom prst="roundRect">
            <a:avLst>
              <a:gd name="adj" fmla="val 12000"/>
            </a:avLst>
          </a:prstGeom>
          <a:solidFill>
            <a:srgbClr val="1F6F78"/>
          </a:solidFill>
          <a:ln>
            <a:noFill/>
          </a:ln>
        </p:spPr>
        <p:txBody>
          <a:bodyPr rtlCol="0" anchor="ctr"/>
          <a:lstStyle/>
          <a:p/>
        </p:txBody>
      </p:sp>
      <p:sp>
        <p:nvSpPr>
          <p:cNvPr id="40" name="TextBox 39"/>
          <p:cNvSpPr txBox="1"/>
          <p:nvPr/>
        </p:nvSpPr>
        <p:spPr>
          <a:xfrm>
            <a:off x="6858000" y="5349240"/>
            <a:ext cx="868680" cy="292608"/>
          </a:xfrm>
          <a:prstGeom prst="rect">
            <a:avLst/>
          </a:prstGeom>
          <a:noFill/>
        </p:spPr>
        <p:txBody>
          <a:bodyPr wrap="square" lIns="0" rIns="0" tIns="0" bIns="0" anchor="ctr">
            <a:spAutoFit/>
          </a:bodyPr>
          <a:lstStyle/>
          <a:p>
            <a:pPr algn="ctr"/>
            <a:r>
              <a:rPr sz="1200" b="1" i="0">
                <a:solidFill>
                  <a:srgbClr val="FFFFFF"/>
                </a:solidFill>
                <a:latin typeface="Calibri"/>
              </a:rPr>
              <a:t>pass</a:t>
            </a:r>
          </a:p>
        </p:txBody>
      </p:sp>
      <p:sp>
        <p:nvSpPr>
          <p:cNvPr id="41" name="TextBox 40"/>
          <p:cNvSpPr txBox="1"/>
          <p:nvPr/>
        </p:nvSpPr>
        <p:spPr>
          <a:xfrm>
            <a:off x="7909560" y="5294376"/>
            <a:ext cx="3733495" cy="402336"/>
          </a:xfrm>
          <a:prstGeom prst="rect">
            <a:avLst/>
          </a:prstGeom>
          <a:noFill/>
        </p:spPr>
        <p:txBody>
          <a:bodyPr wrap="square" lIns="0" rIns="0" tIns="0" bIns="0" anchor="ctr">
            <a:spAutoFit/>
          </a:bodyPr>
          <a:lstStyle/>
          <a:p>
            <a:pPr algn="l"/>
            <a:r>
              <a:rPr sz="1200" b="0" i="0">
                <a:solidFill>
                  <a:srgbClr val="5C6E76"/>
                </a:solidFill>
                <a:latin typeface="Calibri"/>
              </a:rPr>
              <a:t>Average unit price</a:t>
            </a:r>
          </a:p>
        </p:txBody>
      </p:sp>
      <p:sp>
        <p:nvSpPr>
          <p:cNvPr id="42" name="TextBox 41"/>
          <p:cNvSpPr txBox="1"/>
          <p:nvPr/>
        </p:nvSpPr>
        <p:spPr>
          <a:xfrm>
            <a:off x="548640" y="5760720"/>
            <a:ext cx="11094415" cy="548640"/>
          </a:xfrm>
          <a:prstGeom prst="rect">
            <a:avLst/>
          </a:prstGeom>
          <a:noFill/>
        </p:spPr>
        <p:txBody>
          <a:bodyPr wrap="square" lIns="0" rIns="0" tIns="0" bIns="0" anchor="t">
            <a:spAutoFit/>
          </a:bodyPr>
          <a:lstStyle/>
          <a:p>
            <a:pPr algn="l"/>
            <a:r>
              <a:rPr sz="1300" b="0" i="1">
                <a:solidFill>
                  <a:srgbClr val="5C6E76"/>
                </a:solidFill>
                <a:latin typeface="Calibri"/>
              </a:rPr>
              <a:t>Run on Groq's free tier, October 2026. 8 seed questions with known answers. 1 question hit a model fallback during the run, so it was excluded from scoring even though its answer was correct.</a:t>
            </a:r>
          </a:p>
        </p:txBody>
      </p:sp>
      <p:sp>
        <p:nvSpPr>
          <p:cNvPr id="43" name="Footer"/>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5C6E76"/>
                </a:solidFill>
                <a:latin typeface="Calibri"/>
              </a:rPr>
              <a:t>Capstone · Autonomous Data-Analysis Agent</a:t>
            </a:r>
          </a:p>
        </p:txBody>
      </p:sp>
      <p:sp>
        <p:nvSpPr>
          <p:cNvPr id="44" name="Slide number"/>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5C6E7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94415" cy="777240"/>
          </a:xfrm>
          <a:prstGeom prst="rect">
            <a:avLst/>
          </a:prstGeom>
          <a:noFill/>
        </p:spPr>
        <p:txBody>
          <a:bodyPr wrap="square" lIns="0" rIns="0" tIns="0" bIns="0" anchor="ctr">
            <a:spAutoFit/>
          </a:bodyPr>
          <a:lstStyle/>
          <a:p>
            <a:pPr algn="l"/>
            <a:r>
              <a:rPr sz="3400" b="1" i="0">
                <a:solidFill>
                  <a:srgbClr val="0F2E3D"/>
                </a:solidFill>
                <a:latin typeface="Cambria"/>
              </a:rPr>
              <a:t>Known limits and what we would do next</a:t>
            </a:r>
          </a:p>
        </p:txBody>
      </p:sp>
      <p:sp>
        <p:nvSpPr>
          <p:cNvPr id="3" name="Rectangle 2"/>
          <p:cNvSpPr/>
          <p:nvPr/>
        </p:nvSpPr>
        <p:spPr>
          <a:xfrm>
            <a:off x="548640" y="1554480"/>
            <a:ext cx="2322576" cy="603504"/>
          </a:xfrm>
          <a:prstGeom prst="rect">
            <a:avLst/>
          </a:prstGeom>
          <a:solidFill>
            <a:srgbClr val="0F2E3D"/>
          </a:solidFill>
          <a:ln>
            <a:noFill/>
          </a:ln>
        </p:spPr>
        <p:txBody>
          <a:bodyPr rtlCol="0" anchor="ctr"/>
          <a:lstStyle/>
          <a:p/>
        </p:txBody>
      </p:sp>
      <p:sp>
        <p:nvSpPr>
          <p:cNvPr id="4" name="TextBox 3"/>
          <p:cNvSpPr txBox="1"/>
          <p:nvPr/>
        </p:nvSpPr>
        <p:spPr>
          <a:xfrm>
            <a:off x="731520" y="1554480"/>
            <a:ext cx="2011680" cy="603504"/>
          </a:xfrm>
          <a:prstGeom prst="rect">
            <a:avLst/>
          </a:prstGeom>
          <a:noFill/>
        </p:spPr>
        <p:txBody>
          <a:bodyPr wrap="square" lIns="0" rIns="0" tIns="0" bIns="0" anchor="ctr">
            <a:spAutoFit/>
          </a:bodyPr>
          <a:lstStyle/>
          <a:p>
            <a:pPr algn="l"/>
            <a:r>
              <a:rPr sz="1500" b="1" i="0">
                <a:solidFill>
                  <a:srgbClr val="FFFFFF"/>
                </a:solidFill>
                <a:latin typeface="Calibri"/>
              </a:rPr>
              <a:t>Area</a:t>
            </a:r>
          </a:p>
        </p:txBody>
      </p:sp>
      <p:sp>
        <p:nvSpPr>
          <p:cNvPr id="5" name="Rectangle 4"/>
          <p:cNvSpPr/>
          <p:nvPr/>
        </p:nvSpPr>
        <p:spPr>
          <a:xfrm>
            <a:off x="2926080" y="1554480"/>
            <a:ext cx="4059936" cy="603504"/>
          </a:xfrm>
          <a:prstGeom prst="rect">
            <a:avLst/>
          </a:prstGeom>
          <a:solidFill>
            <a:srgbClr val="0F2E3D"/>
          </a:solidFill>
          <a:ln>
            <a:noFill/>
          </a:ln>
        </p:spPr>
        <p:txBody>
          <a:bodyPr rtlCol="0" anchor="ctr"/>
          <a:lstStyle/>
          <a:p/>
        </p:txBody>
      </p:sp>
      <p:sp>
        <p:nvSpPr>
          <p:cNvPr id="6" name="TextBox 5"/>
          <p:cNvSpPr txBox="1"/>
          <p:nvPr/>
        </p:nvSpPr>
        <p:spPr>
          <a:xfrm>
            <a:off x="3108960" y="1554480"/>
            <a:ext cx="3749039" cy="603504"/>
          </a:xfrm>
          <a:prstGeom prst="rect">
            <a:avLst/>
          </a:prstGeom>
          <a:noFill/>
        </p:spPr>
        <p:txBody>
          <a:bodyPr wrap="square" lIns="0" rIns="0" tIns="0" bIns="0" anchor="ctr">
            <a:spAutoFit/>
          </a:bodyPr>
          <a:lstStyle/>
          <a:p>
            <a:pPr algn="l"/>
            <a:r>
              <a:rPr sz="1500" b="1" i="0">
                <a:solidFill>
                  <a:srgbClr val="FFFFFF"/>
                </a:solidFill>
                <a:latin typeface="Calibri"/>
              </a:rPr>
              <a:t>Today</a:t>
            </a:r>
          </a:p>
        </p:txBody>
      </p:sp>
      <p:sp>
        <p:nvSpPr>
          <p:cNvPr id="7" name="Rectangle 6"/>
          <p:cNvSpPr/>
          <p:nvPr/>
        </p:nvSpPr>
        <p:spPr>
          <a:xfrm>
            <a:off x="7040880" y="1554480"/>
            <a:ext cx="4547311" cy="603504"/>
          </a:xfrm>
          <a:prstGeom prst="rect">
            <a:avLst/>
          </a:prstGeom>
          <a:solidFill>
            <a:srgbClr val="0F2E3D"/>
          </a:solidFill>
          <a:ln>
            <a:noFill/>
          </a:ln>
        </p:spPr>
        <p:txBody>
          <a:bodyPr rtlCol="0" anchor="ctr"/>
          <a:lstStyle/>
          <a:p/>
        </p:txBody>
      </p:sp>
      <p:sp>
        <p:nvSpPr>
          <p:cNvPr id="8" name="TextBox 7"/>
          <p:cNvSpPr txBox="1"/>
          <p:nvPr/>
        </p:nvSpPr>
        <p:spPr>
          <a:xfrm>
            <a:off x="7223760" y="1554480"/>
            <a:ext cx="4236415" cy="603504"/>
          </a:xfrm>
          <a:prstGeom prst="rect">
            <a:avLst/>
          </a:prstGeom>
          <a:noFill/>
        </p:spPr>
        <p:txBody>
          <a:bodyPr wrap="square" lIns="0" rIns="0" tIns="0" bIns="0" anchor="ctr">
            <a:spAutoFit/>
          </a:bodyPr>
          <a:lstStyle/>
          <a:p>
            <a:pPr algn="l"/>
            <a:r>
              <a:rPr sz="1500" b="1" i="0">
                <a:solidFill>
                  <a:srgbClr val="FFFFFF"/>
                </a:solidFill>
                <a:latin typeface="Calibri"/>
              </a:rPr>
              <a:t>Next step</a:t>
            </a:r>
          </a:p>
        </p:txBody>
      </p:sp>
      <p:sp>
        <p:nvSpPr>
          <p:cNvPr id="9" name="Rectangle 8"/>
          <p:cNvSpPr/>
          <p:nvPr/>
        </p:nvSpPr>
        <p:spPr>
          <a:xfrm>
            <a:off x="548640" y="2212848"/>
            <a:ext cx="2322576" cy="603504"/>
          </a:xfrm>
          <a:prstGeom prst="rect">
            <a:avLst/>
          </a:prstGeom>
          <a:solidFill>
            <a:srgbClr val="E8F0F1"/>
          </a:solidFill>
          <a:ln>
            <a:noFill/>
          </a:ln>
        </p:spPr>
        <p:txBody>
          <a:bodyPr rtlCol="0" anchor="ctr"/>
          <a:lstStyle/>
          <a:p/>
        </p:txBody>
      </p:sp>
      <p:sp>
        <p:nvSpPr>
          <p:cNvPr id="10" name="TextBox 9"/>
          <p:cNvSpPr txBox="1"/>
          <p:nvPr/>
        </p:nvSpPr>
        <p:spPr>
          <a:xfrm>
            <a:off x="731520" y="2212848"/>
            <a:ext cx="2011680" cy="603504"/>
          </a:xfrm>
          <a:prstGeom prst="rect">
            <a:avLst/>
          </a:prstGeom>
          <a:noFill/>
        </p:spPr>
        <p:txBody>
          <a:bodyPr wrap="square" lIns="0" rIns="0" tIns="0" bIns="0" anchor="ctr">
            <a:spAutoFit/>
          </a:bodyPr>
          <a:lstStyle/>
          <a:p>
            <a:pPr algn="l"/>
            <a:r>
              <a:rPr sz="1500" b="1" i="0">
                <a:solidFill>
                  <a:srgbClr val="1A2B33"/>
                </a:solidFill>
                <a:latin typeface="Calibri"/>
              </a:rPr>
              <a:t>PII detection</a:t>
            </a:r>
          </a:p>
        </p:txBody>
      </p:sp>
      <p:sp>
        <p:nvSpPr>
          <p:cNvPr id="11" name="Rectangle 10"/>
          <p:cNvSpPr/>
          <p:nvPr/>
        </p:nvSpPr>
        <p:spPr>
          <a:xfrm>
            <a:off x="2926080" y="2212848"/>
            <a:ext cx="4059936" cy="603504"/>
          </a:xfrm>
          <a:prstGeom prst="rect">
            <a:avLst/>
          </a:prstGeom>
          <a:solidFill>
            <a:srgbClr val="E8F0F1"/>
          </a:solidFill>
          <a:ln>
            <a:noFill/>
          </a:ln>
        </p:spPr>
        <p:txBody>
          <a:bodyPr rtlCol="0" anchor="ctr"/>
          <a:lstStyle/>
          <a:p/>
        </p:txBody>
      </p:sp>
      <p:sp>
        <p:nvSpPr>
          <p:cNvPr id="12" name="TextBox 11"/>
          <p:cNvSpPr txBox="1"/>
          <p:nvPr/>
        </p:nvSpPr>
        <p:spPr>
          <a:xfrm>
            <a:off x="3108960" y="2212848"/>
            <a:ext cx="3749039" cy="603504"/>
          </a:xfrm>
          <a:prstGeom prst="rect">
            <a:avLst/>
          </a:prstGeom>
          <a:noFill/>
        </p:spPr>
        <p:txBody>
          <a:bodyPr wrap="square" lIns="0" rIns="0" tIns="0" bIns="0" anchor="ctr">
            <a:spAutoFit/>
          </a:bodyPr>
          <a:lstStyle/>
          <a:p>
            <a:pPr algn="l"/>
            <a:r>
              <a:rPr sz="1500" b="0" i="0">
                <a:solidFill>
                  <a:srgbClr val="1A2B33"/>
                </a:solidFill>
                <a:latin typeface="Calibri"/>
              </a:rPr>
              <a:t>Patterns and column-name rules</a:t>
            </a:r>
          </a:p>
        </p:txBody>
      </p:sp>
      <p:sp>
        <p:nvSpPr>
          <p:cNvPr id="13" name="Rectangle 12"/>
          <p:cNvSpPr/>
          <p:nvPr/>
        </p:nvSpPr>
        <p:spPr>
          <a:xfrm>
            <a:off x="7040880" y="2212848"/>
            <a:ext cx="4547311" cy="603504"/>
          </a:xfrm>
          <a:prstGeom prst="rect">
            <a:avLst/>
          </a:prstGeom>
          <a:solidFill>
            <a:srgbClr val="E8F0F1"/>
          </a:solidFill>
          <a:ln>
            <a:noFill/>
          </a:ln>
        </p:spPr>
        <p:txBody>
          <a:bodyPr rtlCol="0" anchor="ctr"/>
          <a:lstStyle/>
          <a:p/>
        </p:txBody>
      </p:sp>
      <p:sp>
        <p:nvSpPr>
          <p:cNvPr id="14" name="TextBox 13"/>
          <p:cNvSpPr txBox="1"/>
          <p:nvPr/>
        </p:nvSpPr>
        <p:spPr>
          <a:xfrm>
            <a:off x="7223760" y="2212848"/>
            <a:ext cx="4236415" cy="603504"/>
          </a:xfrm>
          <a:prstGeom prst="rect">
            <a:avLst/>
          </a:prstGeom>
          <a:noFill/>
        </p:spPr>
        <p:txBody>
          <a:bodyPr wrap="square" lIns="0" rIns="0" tIns="0" bIns="0" anchor="ctr">
            <a:spAutoFit/>
          </a:bodyPr>
          <a:lstStyle/>
          <a:p>
            <a:pPr algn="l"/>
            <a:r>
              <a:rPr sz="1500" b="0" i="0">
                <a:solidFill>
                  <a:srgbClr val="1F6F78"/>
                </a:solidFill>
                <a:latin typeface="Calibri"/>
              </a:rPr>
              <a:t>Trained named-entity model</a:t>
            </a:r>
          </a:p>
        </p:txBody>
      </p:sp>
      <p:sp>
        <p:nvSpPr>
          <p:cNvPr id="15" name="Rectangle 14"/>
          <p:cNvSpPr/>
          <p:nvPr/>
        </p:nvSpPr>
        <p:spPr>
          <a:xfrm>
            <a:off x="548640" y="2871215"/>
            <a:ext cx="2322576" cy="603504"/>
          </a:xfrm>
          <a:prstGeom prst="rect">
            <a:avLst/>
          </a:prstGeom>
          <a:solidFill>
            <a:srgbClr val="FFFFFF"/>
          </a:solidFill>
          <a:ln w="9525">
            <a:solidFill>
              <a:srgbClr val="C5D3D6"/>
            </a:solidFill>
          </a:ln>
        </p:spPr>
        <p:txBody>
          <a:bodyPr rtlCol="0" anchor="ctr"/>
          <a:lstStyle/>
          <a:p/>
        </p:txBody>
      </p:sp>
      <p:sp>
        <p:nvSpPr>
          <p:cNvPr id="16" name="TextBox 15"/>
          <p:cNvSpPr txBox="1"/>
          <p:nvPr/>
        </p:nvSpPr>
        <p:spPr>
          <a:xfrm>
            <a:off x="731520" y="2871215"/>
            <a:ext cx="2011680" cy="603504"/>
          </a:xfrm>
          <a:prstGeom prst="rect">
            <a:avLst/>
          </a:prstGeom>
          <a:noFill/>
        </p:spPr>
        <p:txBody>
          <a:bodyPr wrap="square" lIns="0" rIns="0" tIns="0" bIns="0" anchor="ctr">
            <a:spAutoFit/>
          </a:bodyPr>
          <a:lstStyle/>
          <a:p>
            <a:pPr algn="l"/>
            <a:r>
              <a:rPr sz="1500" b="1" i="0">
                <a:solidFill>
                  <a:srgbClr val="1A2B33"/>
                </a:solidFill>
                <a:latin typeface="Calibri"/>
              </a:rPr>
              <a:t>Similarity search</a:t>
            </a:r>
          </a:p>
        </p:txBody>
      </p:sp>
      <p:sp>
        <p:nvSpPr>
          <p:cNvPr id="17" name="Rectangle 16"/>
          <p:cNvSpPr/>
          <p:nvPr/>
        </p:nvSpPr>
        <p:spPr>
          <a:xfrm>
            <a:off x="2926080" y="2871215"/>
            <a:ext cx="4059936" cy="603504"/>
          </a:xfrm>
          <a:prstGeom prst="rect">
            <a:avLst/>
          </a:prstGeom>
          <a:solidFill>
            <a:srgbClr val="FFFFFF"/>
          </a:solidFill>
          <a:ln w="9525">
            <a:solidFill>
              <a:srgbClr val="C5D3D6"/>
            </a:solidFill>
          </a:ln>
        </p:spPr>
        <p:txBody>
          <a:bodyPr rtlCol="0" anchor="ctr"/>
          <a:lstStyle/>
          <a:p/>
        </p:txBody>
      </p:sp>
      <p:sp>
        <p:nvSpPr>
          <p:cNvPr id="18" name="TextBox 17"/>
          <p:cNvSpPr txBox="1"/>
          <p:nvPr/>
        </p:nvSpPr>
        <p:spPr>
          <a:xfrm>
            <a:off x="3108960" y="2871215"/>
            <a:ext cx="3749039" cy="603504"/>
          </a:xfrm>
          <a:prstGeom prst="rect">
            <a:avLst/>
          </a:prstGeom>
          <a:noFill/>
        </p:spPr>
        <p:txBody>
          <a:bodyPr wrap="square" lIns="0" rIns="0" tIns="0" bIns="0" anchor="ctr">
            <a:spAutoFit/>
          </a:bodyPr>
          <a:lstStyle/>
          <a:p>
            <a:pPr algn="l"/>
            <a:r>
              <a:rPr sz="1500" b="0" i="0">
                <a:solidFill>
                  <a:srgbClr val="1A2B33"/>
                </a:solidFill>
                <a:latin typeface="Calibri"/>
              </a:rPr>
              <a:t>Local hashing vectors, no network</a:t>
            </a:r>
          </a:p>
        </p:txBody>
      </p:sp>
      <p:sp>
        <p:nvSpPr>
          <p:cNvPr id="19" name="Rectangle 18"/>
          <p:cNvSpPr/>
          <p:nvPr/>
        </p:nvSpPr>
        <p:spPr>
          <a:xfrm>
            <a:off x="7040880" y="2871215"/>
            <a:ext cx="4547311" cy="603504"/>
          </a:xfrm>
          <a:prstGeom prst="rect">
            <a:avLst/>
          </a:prstGeom>
          <a:solidFill>
            <a:srgbClr val="FFFFFF"/>
          </a:solidFill>
          <a:ln w="9525">
            <a:solidFill>
              <a:srgbClr val="C5D3D6"/>
            </a:solidFill>
          </a:ln>
        </p:spPr>
        <p:txBody>
          <a:bodyPr rtlCol="0" anchor="ctr"/>
          <a:lstStyle/>
          <a:p/>
        </p:txBody>
      </p:sp>
      <p:sp>
        <p:nvSpPr>
          <p:cNvPr id="20" name="TextBox 19"/>
          <p:cNvSpPr txBox="1"/>
          <p:nvPr/>
        </p:nvSpPr>
        <p:spPr>
          <a:xfrm>
            <a:off x="7223760" y="2871215"/>
            <a:ext cx="4236415" cy="603504"/>
          </a:xfrm>
          <a:prstGeom prst="rect">
            <a:avLst/>
          </a:prstGeom>
          <a:noFill/>
        </p:spPr>
        <p:txBody>
          <a:bodyPr wrap="square" lIns="0" rIns="0" tIns="0" bIns="0" anchor="ctr">
            <a:spAutoFit/>
          </a:bodyPr>
          <a:lstStyle/>
          <a:p>
            <a:pPr algn="l"/>
            <a:r>
              <a:rPr sz="1500" b="0" i="0">
                <a:solidFill>
                  <a:srgbClr val="1F6F78"/>
                </a:solidFill>
                <a:latin typeface="Calibri"/>
              </a:rPr>
              <a:t>Real embedding model</a:t>
            </a:r>
          </a:p>
        </p:txBody>
      </p:sp>
      <p:sp>
        <p:nvSpPr>
          <p:cNvPr id="21" name="Rectangle 20"/>
          <p:cNvSpPr/>
          <p:nvPr/>
        </p:nvSpPr>
        <p:spPr>
          <a:xfrm>
            <a:off x="548640" y="3529584"/>
            <a:ext cx="2322576" cy="603504"/>
          </a:xfrm>
          <a:prstGeom prst="rect">
            <a:avLst/>
          </a:prstGeom>
          <a:solidFill>
            <a:srgbClr val="E8F0F1"/>
          </a:solidFill>
          <a:ln>
            <a:noFill/>
          </a:ln>
        </p:spPr>
        <p:txBody>
          <a:bodyPr rtlCol="0" anchor="ctr"/>
          <a:lstStyle/>
          <a:p/>
        </p:txBody>
      </p:sp>
      <p:sp>
        <p:nvSpPr>
          <p:cNvPr id="22" name="TextBox 21"/>
          <p:cNvSpPr txBox="1"/>
          <p:nvPr/>
        </p:nvSpPr>
        <p:spPr>
          <a:xfrm>
            <a:off x="731520" y="3529584"/>
            <a:ext cx="2011680" cy="603504"/>
          </a:xfrm>
          <a:prstGeom prst="rect">
            <a:avLst/>
          </a:prstGeom>
          <a:noFill/>
        </p:spPr>
        <p:txBody>
          <a:bodyPr wrap="square" lIns="0" rIns="0" tIns="0" bIns="0" anchor="ctr">
            <a:spAutoFit/>
          </a:bodyPr>
          <a:lstStyle/>
          <a:p>
            <a:pPr algn="l"/>
            <a:r>
              <a:rPr sz="1500" b="1" i="0">
                <a:solidFill>
                  <a:srgbClr val="1A2B33"/>
                </a:solidFill>
                <a:latin typeface="Calibri"/>
              </a:rPr>
              <a:t>Isolation</a:t>
            </a:r>
          </a:p>
        </p:txBody>
      </p:sp>
      <p:sp>
        <p:nvSpPr>
          <p:cNvPr id="23" name="Rectangle 22"/>
          <p:cNvSpPr/>
          <p:nvPr/>
        </p:nvSpPr>
        <p:spPr>
          <a:xfrm>
            <a:off x="2926080" y="3529584"/>
            <a:ext cx="4059936" cy="603504"/>
          </a:xfrm>
          <a:prstGeom prst="rect">
            <a:avLst/>
          </a:prstGeom>
          <a:solidFill>
            <a:srgbClr val="E8F0F1"/>
          </a:solidFill>
          <a:ln>
            <a:noFill/>
          </a:ln>
        </p:spPr>
        <p:txBody>
          <a:bodyPr rtlCol="0" anchor="ctr"/>
          <a:lstStyle/>
          <a:p/>
        </p:txBody>
      </p:sp>
      <p:sp>
        <p:nvSpPr>
          <p:cNvPr id="24" name="TextBox 23"/>
          <p:cNvSpPr txBox="1"/>
          <p:nvPr/>
        </p:nvSpPr>
        <p:spPr>
          <a:xfrm>
            <a:off x="3108960" y="3529584"/>
            <a:ext cx="3749039" cy="603504"/>
          </a:xfrm>
          <a:prstGeom prst="rect">
            <a:avLst/>
          </a:prstGeom>
          <a:noFill/>
        </p:spPr>
        <p:txBody>
          <a:bodyPr wrap="square" lIns="0" rIns="0" tIns="0" bIns="0" anchor="ctr">
            <a:spAutoFit/>
          </a:bodyPr>
          <a:lstStyle/>
          <a:p>
            <a:pPr algn="l"/>
            <a:r>
              <a:rPr sz="1500" b="0" i="0">
                <a:solidFill>
                  <a:srgbClr val="1A2B33"/>
                </a:solidFill>
                <a:latin typeface="Calibri"/>
              </a:rPr>
              <a:t>Separate OS process, no container</a:t>
            </a:r>
          </a:p>
        </p:txBody>
      </p:sp>
      <p:sp>
        <p:nvSpPr>
          <p:cNvPr id="25" name="Rectangle 24"/>
          <p:cNvSpPr/>
          <p:nvPr/>
        </p:nvSpPr>
        <p:spPr>
          <a:xfrm>
            <a:off x="7040880" y="3529584"/>
            <a:ext cx="4547311" cy="603504"/>
          </a:xfrm>
          <a:prstGeom prst="rect">
            <a:avLst/>
          </a:prstGeom>
          <a:solidFill>
            <a:srgbClr val="E8F0F1"/>
          </a:solidFill>
          <a:ln>
            <a:noFill/>
          </a:ln>
        </p:spPr>
        <p:txBody>
          <a:bodyPr rtlCol="0" anchor="ctr"/>
          <a:lstStyle/>
          <a:p/>
        </p:txBody>
      </p:sp>
      <p:sp>
        <p:nvSpPr>
          <p:cNvPr id="26" name="TextBox 25"/>
          <p:cNvSpPr txBox="1"/>
          <p:nvPr/>
        </p:nvSpPr>
        <p:spPr>
          <a:xfrm>
            <a:off x="7223760" y="3529584"/>
            <a:ext cx="4236415" cy="603504"/>
          </a:xfrm>
          <a:prstGeom prst="rect">
            <a:avLst/>
          </a:prstGeom>
          <a:noFill/>
        </p:spPr>
        <p:txBody>
          <a:bodyPr wrap="square" lIns="0" rIns="0" tIns="0" bIns="0" anchor="ctr">
            <a:spAutoFit/>
          </a:bodyPr>
          <a:lstStyle/>
          <a:p>
            <a:pPr algn="l"/>
            <a:r>
              <a:rPr sz="1500" b="0" i="0">
                <a:solidFill>
                  <a:srgbClr val="1F6F78"/>
                </a:solidFill>
                <a:latin typeface="Calibri"/>
              </a:rPr>
              <a:t>Docker or VM sandbox</a:t>
            </a:r>
          </a:p>
        </p:txBody>
      </p:sp>
      <p:sp>
        <p:nvSpPr>
          <p:cNvPr id="27" name="Rectangle 26"/>
          <p:cNvSpPr/>
          <p:nvPr/>
        </p:nvSpPr>
        <p:spPr>
          <a:xfrm>
            <a:off x="548640" y="4187952"/>
            <a:ext cx="2322576" cy="603504"/>
          </a:xfrm>
          <a:prstGeom prst="rect">
            <a:avLst/>
          </a:prstGeom>
          <a:solidFill>
            <a:srgbClr val="FFFFFF"/>
          </a:solidFill>
          <a:ln w="9525">
            <a:solidFill>
              <a:srgbClr val="C5D3D6"/>
            </a:solidFill>
          </a:ln>
        </p:spPr>
        <p:txBody>
          <a:bodyPr rtlCol="0" anchor="ctr"/>
          <a:lstStyle/>
          <a:p/>
        </p:txBody>
      </p:sp>
      <p:sp>
        <p:nvSpPr>
          <p:cNvPr id="28" name="TextBox 27"/>
          <p:cNvSpPr txBox="1"/>
          <p:nvPr/>
        </p:nvSpPr>
        <p:spPr>
          <a:xfrm>
            <a:off x="731520" y="4187952"/>
            <a:ext cx="2011680" cy="603504"/>
          </a:xfrm>
          <a:prstGeom prst="rect">
            <a:avLst/>
          </a:prstGeom>
          <a:noFill/>
        </p:spPr>
        <p:txBody>
          <a:bodyPr wrap="square" lIns="0" rIns="0" tIns="0" bIns="0" anchor="ctr">
            <a:spAutoFit/>
          </a:bodyPr>
          <a:lstStyle/>
          <a:p>
            <a:pPr algn="l"/>
            <a:r>
              <a:rPr sz="1500" b="1" i="0">
                <a:solidFill>
                  <a:srgbClr val="1A2B33"/>
                </a:solidFill>
                <a:latin typeface="Calibri"/>
              </a:rPr>
              <a:t>Benchmark</a:t>
            </a:r>
          </a:p>
        </p:txBody>
      </p:sp>
      <p:sp>
        <p:nvSpPr>
          <p:cNvPr id="29" name="Rectangle 28"/>
          <p:cNvSpPr/>
          <p:nvPr/>
        </p:nvSpPr>
        <p:spPr>
          <a:xfrm>
            <a:off x="2926080" y="4187952"/>
            <a:ext cx="4059936" cy="603504"/>
          </a:xfrm>
          <a:prstGeom prst="rect">
            <a:avLst/>
          </a:prstGeom>
          <a:solidFill>
            <a:srgbClr val="FFFFFF"/>
          </a:solidFill>
          <a:ln w="9525">
            <a:solidFill>
              <a:srgbClr val="C5D3D6"/>
            </a:solidFill>
          </a:ln>
        </p:spPr>
        <p:txBody>
          <a:bodyPr rtlCol="0" anchor="ctr"/>
          <a:lstStyle/>
          <a:p/>
        </p:txBody>
      </p:sp>
      <p:sp>
        <p:nvSpPr>
          <p:cNvPr id="30" name="TextBox 29"/>
          <p:cNvSpPr txBox="1"/>
          <p:nvPr/>
        </p:nvSpPr>
        <p:spPr>
          <a:xfrm>
            <a:off x="3108960" y="4187952"/>
            <a:ext cx="3749039" cy="603504"/>
          </a:xfrm>
          <a:prstGeom prst="rect">
            <a:avLst/>
          </a:prstGeom>
          <a:noFill/>
        </p:spPr>
        <p:txBody>
          <a:bodyPr wrap="square" lIns="0" rIns="0" tIns="0" bIns="0" anchor="ctr">
            <a:spAutoFit/>
          </a:bodyPr>
          <a:lstStyle/>
          <a:p>
            <a:pPr algn="l"/>
            <a:r>
              <a:rPr sz="1500" b="0" i="0">
                <a:solidFill>
                  <a:srgbClr val="1A2B33"/>
                </a:solidFill>
                <a:latin typeface="Calibri"/>
              </a:rPr>
              <a:t>8 seed questions</a:t>
            </a:r>
          </a:p>
        </p:txBody>
      </p:sp>
      <p:sp>
        <p:nvSpPr>
          <p:cNvPr id="31" name="Rectangle 30"/>
          <p:cNvSpPr/>
          <p:nvPr/>
        </p:nvSpPr>
        <p:spPr>
          <a:xfrm>
            <a:off x="7040880" y="4187952"/>
            <a:ext cx="4547311" cy="603504"/>
          </a:xfrm>
          <a:prstGeom prst="rect">
            <a:avLst/>
          </a:prstGeom>
          <a:solidFill>
            <a:srgbClr val="FFFFFF"/>
          </a:solidFill>
          <a:ln w="9525">
            <a:solidFill>
              <a:srgbClr val="C5D3D6"/>
            </a:solidFill>
          </a:ln>
        </p:spPr>
        <p:txBody>
          <a:bodyPr rtlCol="0" anchor="ctr"/>
          <a:lstStyle/>
          <a:p/>
        </p:txBody>
      </p:sp>
      <p:sp>
        <p:nvSpPr>
          <p:cNvPr id="32" name="TextBox 31"/>
          <p:cNvSpPr txBox="1"/>
          <p:nvPr/>
        </p:nvSpPr>
        <p:spPr>
          <a:xfrm>
            <a:off x="7223760" y="4187952"/>
            <a:ext cx="4236415" cy="603504"/>
          </a:xfrm>
          <a:prstGeom prst="rect">
            <a:avLst/>
          </a:prstGeom>
          <a:noFill/>
        </p:spPr>
        <p:txBody>
          <a:bodyPr wrap="square" lIns="0" rIns="0" tIns="0" bIns="0" anchor="ctr">
            <a:spAutoFit/>
          </a:bodyPr>
          <a:lstStyle/>
          <a:p>
            <a:pPr algn="l"/>
            <a:r>
              <a:rPr sz="1500" b="0" i="0">
                <a:solidFill>
                  <a:srgbClr val="1F6F78"/>
                </a:solidFill>
                <a:latin typeface="Calibri"/>
              </a:rPr>
              <a:t>50+ questions across all categories</a:t>
            </a:r>
          </a:p>
        </p:txBody>
      </p:sp>
      <p:sp>
        <p:nvSpPr>
          <p:cNvPr id="33" name="Rectangle 32"/>
          <p:cNvSpPr/>
          <p:nvPr/>
        </p:nvSpPr>
        <p:spPr>
          <a:xfrm>
            <a:off x="548640" y="4846320"/>
            <a:ext cx="2322576" cy="603504"/>
          </a:xfrm>
          <a:prstGeom prst="rect">
            <a:avLst/>
          </a:prstGeom>
          <a:solidFill>
            <a:srgbClr val="E8F0F1"/>
          </a:solidFill>
          <a:ln>
            <a:noFill/>
          </a:ln>
        </p:spPr>
        <p:txBody>
          <a:bodyPr rtlCol="0" anchor="ctr"/>
          <a:lstStyle/>
          <a:p/>
        </p:txBody>
      </p:sp>
      <p:sp>
        <p:nvSpPr>
          <p:cNvPr id="34" name="TextBox 33"/>
          <p:cNvSpPr txBox="1"/>
          <p:nvPr/>
        </p:nvSpPr>
        <p:spPr>
          <a:xfrm>
            <a:off x="731520" y="4846320"/>
            <a:ext cx="2011680" cy="603504"/>
          </a:xfrm>
          <a:prstGeom prst="rect">
            <a:avLst/>
          </a:prstGeom>
          <a:noFill/>
        </p:spPr>
        <p:txBody>
          <a:bodyPr wrap="square" lIns="0" rIns="0" tIns="0" bIns="0" anchor="ctr">
            <a:spAutoFit/>
          </a:bodyPr>
          <a:lstStyle/>
          <a:p>
            <a:pPr algn="l"/>
            <a:r>
              <a:rPr sz="1500" b="1" i="0">
                <a:solidFill>
                  <a:srgbClr val="1A2B33"/>
                </a:solidFill>
                <a:latin typeface="Calibri"/>
              </a:rPr>
              <a:t>Scale</a:t>
            </a:r>
          </a:p>
        </p:txBody>
      </p:sp>
      <p:sp>
        <p:nvSpPr>
          <p:cNvPr id="35" name="Rectangle 34"/>
          <p:cNvSpPr/>
          <p:nvPr/>
        </p:nvSpPr>
        <p:spPr>
          <a:xfrm>
            <a:off x="2926080" y="4846320"/>
            <a:ext cx="4059936" cy="603504"/>
          </a:xfrm>
          <a:prstGeom prst="rect">
            <a:avLst/>
          </a:prstGeom>
          <a:solidFill>
            <a:srgbClr val="E8F0F1"/>
          </a:solidFill>
          <a:ln>
            <a:noFill/>
          </a:ln>
        </p:spPr>
        <p:txBody>
          <a:bodyPr rtlCol="0" anchor="ctr"/>
          <a:lstStyle/>
          <a:p/>
        </p:txBody>
      </p:sp>
      <p:sp>
        <p:nvSpPr>
          <p:cNvPr id="36" name="TextBox 35"/>
          <p:cNvSpPr txBox="1"/>
          <p:nvPr/>
        </p:nvSpPr>
        <p:spPr>
          <a:xfrm>
            <a:off x="3108960" y="4846320"/>
            <a:ext cx="3749039" cy="603504"/>
          </a:xfrm>
          <a:prstGeom prst="rect">
            <a:avLst/>
          </a:prstGeom>
          <a:noFill/>
        </p:spPr>
        <p:txBody>
          <a:bodyPr wrap="square" lIns="0" rIns="0" tIns="0" bIns="0" anchor="ctr">
            <a:spAutoFit/>
          </a:bodyPr>
          <a:lstStyle/>
          <a:p>
            <a:pPr algn="l"/>
            <a:r>
              <a:rPr sz="1500" b="0" i="0">
                <a:solidFill>
                  <a:srgbClr val="1A2B33"/>
                </a:solidFill>
                <a:latin typeface="Calibri"/>
              </a:rPr>
              <a:t>One machine</a:t>
            </a:r>
          </a:p>
        </p:txBody>
      </p:sp>
      <p:sp>
        <p:nvSpPr>
          <p:cNvPr id="37" name="Rectangle 36"/>
          <p:cNvSpPr/>
          <p:nvPr/>
        </p:nvSpPr>
        <p:spPr>
          <a:xfrm>
            <a:off x="7040880" y="4846320"/>
            <a:ext cx="4547311" cy="603504"/>
          </a:xfrm>
          <a:prstGeom prst="rect">
            <a:avLst/>
          </a:prstGeom>
          <a:solidFill>
            <a:srgbClr val="E8F0F1"/>
          </a:solidFill>
          <a:ln>
            <a:noFill/>
          </a:ln>
        </p:spPr>
        <p:txBody>
          <a:bodyPr rtlCol="0" anchor="ctr"/>
          <a:lstStyle/>
          <a:p/>
        </p:txBody>
      </p:sp>
      <p:sp>
        <p:nvSpPr>
          <p:cNvPr id="38" name="TextBox 37"/>
          <p:cNvSpPr txBox="1"/>
          <p:nvPr/>
        </p:nvSpPr>
        <p:spPr>
          <a:xfrm>
            <a:off x="7223760" y="4846320"/>
            <a:ext cx="4236415" cy="603504"/>
          </a:xfrm>
          <a:prstGeom prst="rect">
            <a:avLst/>
          </a:prstGeom>
          <a:noFill/>
        </p:spPr>
        <p:txBody>
          <a:bodyPr wrap="square" lIns="0" rIns="0" tIns="0" bIns="0" anchor="ctr">
            <a:spAutoFit/>
          </a:bodyPr>
          <a:lstStyle/>
          <a:p>
            <a:pPr algn="l"/>
            <a:r>
              <a:rPr sz="1500" b="0" i="0">
                <a:solidFill>
                  <a:srgbClr val="1F6F78"/>
                </a:solidFill>
                <a:latin typeface="Calibri"/>
              </a:rPr>
              <a:t>Pool of sandboxes on Kubernetes</a:t>
            </a:r>
          </a:p>
        </p:txBody>
      </p:sp>
      <p:sp>
        <p:nvSpPr>
          <p:cNvPr id="39" name="Footer"/>
          <p:cNvSpPr txBox="1"/>
          <p:nvPr/>
        </p:nvSpPr>
        <p:spPr>
          <a:xfrm>
            <a:off x="548640" y="6400800"/>
            <a:ext cx="7315200" cy="274320"/>
          </a:xfrm>
          <a:prstGeom prst="rect">
            <a:avLst/>
          </a:prstGeom>
          <a:noFill/>
        </p:spPr>
        <p:txBody>
          <a:bodyPr wrap="square" lIns="0" rIns="0" tIns="0" bIns="0" anchor="t">
            <a:spAutoFit/>
          </a:bodyPr>
          <a:lstStyle/>
          <a:p>
            <a:pPr algn="l"/>
            <a:r>
              <a:rPr sz="1000" b="0" i="0">
                <a:solidFill>
                  <a:srgbClr val="5C6E76"/>
                </a:solidFill>
                <a:latin typeface="Calibri"/>
              </a:rPr>
              <a:t>Capstone · Autonomous Data-Analysis Agent</a:t>
            </a:r>
          </a:p>
        </p:txBody>
      </p:sp>
      <p:sp>
        <p:nvSpPr>
          <p:cNvPr id="40" name="Slide number"/>
          <p:cNvSpPr txBox="1"/>
          <p:nvPr/>
        </p:nvSpPr>
        <p:spPr>
          <a:xfrm>
            <a:off x="10728655" y="6400800"/>
            <a:ext cx="914400" cy="274320"/>
          </a:xfrm>
          <a:prstGeom prst="rect">
            <a:avLst/>
          </a:prstGeom>
          <a:noFill/>
        </p:spPr>
        <p:txBody>
          <a:bodyPr wrap="square" lIns="0" rIns="0" tIns="0" bIns="0" anchor="t">
            <a:spAutoFit/>
          </a:bodyPr>
          <a:lstStyle/>
          <a:p>
            <a:pPr algn="r"/>
            <a:r>
              <a:rPr sz="1000" b="0" i="0">
                <a:solidFill>
                  <a:srgbClr val="5C6E7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2E3D"/>
        </a:solidFill>
        <a:effectLst/>
      </p:bgPr>
    </p:bg>
    <p:spTree>
      <p:nvGrpSpPr>
        <p:cNvPr id="1" name=""/>
        <p:cNvGrpSpPr/>
        <p:nvPr/>
      </p:nvGrpSpPr>
      <p:grpSpPr/>
      <p:sp>
        <p:nvSpPr>
          <p:cNvPr id="2" name="TextBox 1"/>
          <p:cNvSpPr txBox="1"/>
          <p:nvPr/>
        </p:nvSpPr>
        <p:spPr>
          <a:xfrm>
            <a:off x="548640" y="1188720"/>
            <a:ext cx="5943600" cy="914400"/>
          </a:xfrm>
          <a:prstGeom prst="rect">
            <a:avLst/>
          </a:prstGeom>
          <a:noFill/>
        </p:spPr>
        <p:txBody>
          <a:bodyPr wrap="square" lIns="0" rIns="0" tIns="0" bIns="0" anchor="t">
            <a:spAutoFit/>
          </a:bodyPr>
          <a:lstStyle/>
          <a:p>
            <a:pPr algn="l"/>
            <a:r>
              <a:rPr sz="4800" b="1" i="0">
                <a:solidFill>
                  <a:srgbClr val="FFFFFF"/>
                </a:solidFill>
                <a:latin typeface="Cambria"/>
              </a:rPr>
              <a:t>Thank you</a:t>
            </a:r>
          </a:p>
        </p:txBody>
      </p:sp>
      <p:sp>
        <p:nvSpPr>
          <p:cNvPr id="3" name="TextBox 2"/>
          <p:cNvSpPr txBox="1"/>
          <p:nvPr/>
        </p:nvSpPr>
        <p:spPr>
          <a:xfrm>
            <a:off x="548640" y="2148840"/>
            <a:ext cx="5486400" cy="1097280"/>
          </a:xfrm>
          <a:prstGeom prst="rect">
            <a:avLst/>
          </a:prstGeom>
          <a:noFill/>
        </p:spPr>
        <p:txBody>
          <a:bodyPr wrap="square" lIns="0" rIns="0" tIns="0" bIns="0" anchor="t">
            <a:spAutoFit/>
          </a:bodyPr>
          <a:lstStyle/>
          <a:p>
            <a:pPr algn="l"/>
            <a:r>
              <a:rPr sz="2000" b="0" i="0">
                <a:solidFill>
                  <a:srgbClr val="BFD6DA"/>
                </a:solidFill>
                <a:latin typeface="Calibri"/>
              </a:rPr>
              <a:t>We'd value your feedback on scope and on what to prioritise next.</a:t>
            </a:r>
          </a:p>
        </p:txBody>
      </p:sp>
      <p:sp>
        <p:nvSpPr>
          <p:cNvPr id="4" name="TextBox 3"/>
          <p:cNvSpPr txBox="1"/>
          <p:nvPr/>
        </p:nvSpPr>
        <p:spPr>
          <a:xfrm>
            <a:off x="548640" y="5303520"/>
            <a:ext cx="5486400" cy="548640"/>
          </a:xfrm>
          <a:prstGeom prst="rect">
            <a:avLst/>
          </a:prstGeom>
          <a:noFill/>
        </p:spPr>
        <p:txBody>
          <a:bodyPr wrap="square" lIns="0" rIns="0" tIns="0" bIns="0" anchor="t">
            <a:spAutoFit/>
          </a:bodyPr>
          <a:lstStyle/>
          <a:p>
            <a:pPr algn="l"/>
            <a:r>
              <a:rPr sz="2800" b="1" i="0">
                <a:solidFill>
                  <a:srgbClr val="E39B2D"/>
                </a:solidFill>
                <a:latin typeface="Cambria"/>
              </a:rPr>
              <a:t>Questions?</a:t>
            </a:r>
          </a:p>
        </p:txBody>
      </p:sp>
      <p:sp>
        <p:nvSpPr>
          <p:cNvPr id="5" name="TextBox 4"/>
          <p:cNvSpPr txBox="1"/>
          <p:nvPr/>
        </p:nvSpPr>
        <p:spPr>
          <a:xfrm>
            <a:off x="6766560" y="1325880"/>
            <a:ext cx="4846320" cy="320040"/>
          </a:xfrm>
          <a:prstGeom prst="rect">
            <a:avLst/>
          </a:prstGeom>
          <a:noFill/>
        </p:spPr>
        <p:txBody>
          <a:bodyPr wrap="square" lIns="0" rIns="0" tIns="0" bIns="0" anchor="t">
            <a:spAutoFit/>
          </a:bodyPr>
          <a:lstStyle/>
          <a:p>
            <a:pPr algn="l"/>
            <a:r>
              <a:rPr sz="1200" b="1" i="0" spc="200">
                <a:solidFill>
                  <a:srgbClr val="E39B2D"/>
                </a:solidFill>
                <a:latin typeface="Calibri"/>
              </a:rPr>
              <a:t>PROPOSED NEXT STEPS</a:t>
            </a:r>
          </a:p>
        </p:txBody>
      </p:sp>
      <p:sp>
        <p:nvSpPr>
          <p:cNvPr id="6" name="Rounded Rectangle 5"/>
          <p:cNvSpPr/>
          <p:nvPr/>
        </p:nvSpPr>
        <p:spPr>
          <a:xfrm>
            <a:off x="6766560" y="1828800"/>
            <a:ext cx="4876495" cy="1005840"/>
          </a:xfrm>
          <a:prstGeom prst="roundRect">
            <a:avLst>
              <a:gd name="adj" fmla="val 10909"/>
            </a:avLst>
          </a:prstGeom>
          <a:solidFill>
            <a:srgbClr val="1F6F78"/>
          </a:solidFill>
          <a:ln>
            <a:noFill/>
          </a:ln>
        </p:spPr>
        <p:txBody>
          <a:bodyPr rtlCol="0" anchor="ctr"/>
          <a:lstStyle/>
          <a:p/>
        </p:txBody>
      </p:sp>
      <p:sp>
        <p:nvSpPr>
          <p:cNvPr id="7" name="TextBox 6"/>
          <p:cNvSpPr txBox="1"/>
          <p:nvPr/>
        </p:nvSpPr>
        <p:spPr>
          <a:xfrm>
            <a:off x="7040880" y="1965960"/>
            <a:ext cx="4327855" cy="365760"/>
          </a:xfrm>
          <a:prstGeom prst="rect">
            <a:avLst/>
          </a:prstGeom>
          <a:noFill/>
        </p:spPr>
        <p:txBody>
          <a:bodyPr wrap="square" lIns="0" rIns="0" tIns="0" bIns="0" anchor="t">
            <a:spAutoFit/>
          </a:bodyPr>
          <a:lstStyle/>
          <a:p>
            <a:pPr algn="l"/>
            <a:r>
              <a:rPr sz="1800" b="1" i="0">
                <a:solidFill>
                  <a:srgbClr val="FFFFFF"/>
                </a:solidFill>
                <a:latin typeface="Calibri"/>
              </a:rPr>
              <a:t>Grow the benchmark</a:t>
            </a:r>
          </a:p>
        </p:txBody>
      </p:sp>
      <p:sp>
        <p:nvSpPr>
          <p:cNvPr id="8" name="TextBox 7"/>
          <p:cNvSpPr txBox="1"/>
          <p:nvPr/>
        </p:nvSpPr>
        <p:spPr>
          <a:xfrm>
            <a:off x="7040880" y="2359152"/>
            <a:ext cx="4327855" cy="365760"/>
          </a:xfrm>
          <a:prstGeom prst="rect">
            <a:avLst/>
          </a:prstGeom>
          <a:noFill/>
        </p:spPr>
        <p:txBody>
          <a:bodyPr wrap="square" lIns="0" rIns="0" tIns="0" bIns="0" anchor="t">
            <a:spAutoFit/>
          </a:bodyPr>
          <a:lstStyle/>
          <a:p>
            <a:pPr algn="l"/>
            <a:r>
              <a:rPr sz="1400" b="0" i="0">
                <a:solidFill>
                  <a:srgbClr val="BFD6DA"/>
                </a:solidFill>
                <a:latin typeface="Calibri"/>
              </a:rPr>
              <a:t>to 50+ questions so the pass rate is meaningful</a:t>
            </a:r>
          </a:p>
        </p:txBody>
      </p:sp>
      <p:sp>
        <p:nvSpPr>
          <p:cNvPr id="9" name="Rounded Rectangle 8"/>
          <p:cNvSpPr/>
          <p:nvPr/>
        </p:nvSpPr>
        <p:spPr>
          <a:xfrm>
            <a:off x="6766560" y="3063240"/>
            <a:ext cx="4876495" cy="1005840"/>
          </a:xfrm>
          <a:prstGeom prst="roundRect">
            <a:avLst>
              <a:gd name="adj" fmla="val 10909"/>
            </a:avLst>
          </a:prstGeom>
          <a:solidFill>
            <a:srgbClr val="1F6F78"/>
          </a:solidFill>
          <a:ln>
            <a:noFill/>
          </a:ln>
        </p:spPr>
        <p:txBody>
          <a:bodyPr rtlCol="0" anchor="ctr"/>
          <a:lstStyle/>
          <a:p/>
        </p:txBody>
      </p:sp>
      <p:sp>
        <p:nvSpPr>
          <p:cNvPr id="10" name="TextBox 9"/>
          <p:cNvSpPr txBox="1"/>
          <p:nvPr/>
        </p:nvSpPr>
        <p:spPr>
          <a:xfrm>
            <a:off x="7040880" y="3200400"/>
            <a:ext cx="4327855" cy="365760"/>
          </a:xfrm>
          <a:prstGeom prst="rect">
            <a:avLst/>
          </a:prstGeom>
          <a:noFill/>
        </p:spPr>
        <p:txBody>
          <a:bodyPr wrap="square" lIns="0" rIns="0" tIns="0" bIns="0" anchor="t">
            <a:spAutoFit/>
          </a:bodyPr>
          <a:lstStyle/>
          <a:p>
            <a:pPr algn="l"/>
            <a:r>
              <a:rPr sz="1800" b="1" i="0">
                <a:solidFill>
                  <a:srgbClr val="FFFFFF"/>
                </a:solidFill>
                <a:latin typeface="Calibri"/>
              </a:rPr>
              <a:t>Stronger PII detection</a:t>
            </a:r>
          </a:p>
        </p:txBody>
      </p:sp>
      <p:sp>
        <p:nvSpPr>
          <p:cNvPr id="11" name="TextBox 10"/>
          <p:cNvSpPr txBox="1"/>
          <p:nvPr/>
        </p:nvSpPr>
        <p:spPr>
          <a:xfrm>
            <a:off x="7040880" y="3593592"/>
            <a:ext cx="4327855" cy="365760"/>
          </a:xfrm>
          <a:prstGeom prst="rect">
            <a:avLst/>
          </a:prstGeom>
          <a:noFill/>
        </p:spPr>
        <p:txBody>
          <a:bodyPr wrap="square" lIns="0" rIns="0" tIns="0" bIns="0" anchor="t">
            <a:spAutoFit/>
          </a:bodyPr>
          <a:lstStyle/>
          <a:p>
            <a:pPr algn="l"/>
            <a:r>
              <a:rPr sz="1400" b="0" i="0">
                <a:solidFill>
                  <a:srgbClr val="BFD6DA"/>
                </a:solidFill>
                <a:latin typeface="Calibri"/>
              </a:rPr>
              <a:t>with a trained model instead of patterns</a:t>
            </a:r>
          </a:p>
        </p:txBody>
      </p:sp>
      <p:sp>
        <p:nvSpPr>
          <p:cNvPr id="12" name="Rounded Rectangle 11"/>
          <p:cNvSpPr/>
          <p:nvPr/>
        </p:nvSpPr>
        <p:spPr>
          <a:xfrm>
            <a:off x="6766560" y="4297680"/>
            <a:ext cx="4876495" cy="1005840"/>
          </a:xfrm>
          <a:prstGeom prst="roundRect">
            <a:avLst>
              <a:gd name="adj" fmla="val 10909"/>
            </a:avLst>
          </a:prstGeom>
          <a:solidFill>
            <a:srgbClr val="1F6F78"/>
          </a:solidFill>
          <a:ln>
            <a:noFill/>
          </a:ln>
        </p:spPr>
        <p:txBody>
          <a:bodyPr rtlCol="0" anchor="ctr"/>
          <a:lstStyle/>
          <a:p/>
        </p:txBody>
      </p:sp>
      <p:sp>
        <p:nvSpPr>
          <p:cNvPr id="13" name="TextBox 12"/>
          <p:cNvSpPr txBox="1"/>
          <p:nvPr/>
        </p:nvSpPr>
        <p:spPr>
          <a:xfrm>
            <a:off x="7040880" y="4434840"/>
            <a:ext cx="4327855" cy="365760"/>
          </a:xfrm>
          <a:prstGeom prst="rect">
            <a:avLst/>
          </a:prstGeom>
          <a:noFill/>
        </p:spPr>
        <p:txBody>
          <a:bodyPr wrap="square" lIns="0" rIns="0" tIns="0" bIns="0" anchor="t">
            <a:spAutoFit/>
          </a:bodyPr>
          <a:lstStyle/>
          <a:p>
            <a:pPr algn="l"/>
            <a:r>
              <a:rPr sz="1800" b="1" i="0">
                <a:solidFill>
                  <a:srgbClr val="FFFFFF"/>
                </a:solidFill>
                <a:latin typeface="Calibri"/>
              </a:rPr>
              <a:t>Container sandbox</a:t>
            </a:r>
          </a:p>
        </p:txBody>
      </p:sp>
      <p:sp>
        <p:nvSpPr>
          <p:cNvPr id="14" name="TextBox 13"/>
          <p:cNvSpPr txBox="1"/>
          <p:nvPr/>
        </p:nvSpPr>
        <p:spPr>
          <a:xfrm>
            <a:off x="7040880" y="4828032"/>
            <a:ext cx="4327855" cy="365760"/>
          </a:xfrm>
          <a:prstGeom prst="rect">
            <a:avLst/>
          </a:prstGeom>
          <a:noFill/>
        </p:spPr>
        <p:txBody>
          <a:bodyPr wrap="square" lIns="0" rIns="0" tIns="0" bIns="0" anchor="t">
            <a:spAutoFit/>
          </a:bodyPr>
          <a:lstStyle/>
          <a:p>
            <a:pPr algn="l"/>
            <a:r>
              <a:rPr sz="1400" b="0" i="0">
                <a:solidFill>
                  <a:srgbClr val="BFD6DA"/>
                </a:solidFill>
                <a:latin typeface="Calibri"/>
              </a:rPr>
              <a:t>for safe multi-user deployment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